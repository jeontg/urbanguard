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82" r:id="rId33"/>
    <p:sldId id="283" r:id="rId34"/>
    <p:sldId id="284" r:id="rId35"/>
    <p:sldId id="285" r:id="rId3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572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8CFF"/>
                </a:solidFill>
                <a:latin typeface="맑은 고딕"/>
                <a:ea typeface="맑은 고딕"/>
              </a:rPr>
              <a:t>앤시정보기술(주)  ·  New Communication Infotech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11680"/>
            <a:ext cx="8686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맑은 고딕"/>
                <a:ea typeface="맑은 고딕"/>
              </a:rPr>
              <a:t>UrbanGuard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0896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맑은 고딕"/>
                <a:ea typeface="맑은 고딕"/>
              </a:rPr>
              <a:t>통합 도시안전 관제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F8CFF"/>
                </a:solidFill>
                <a:latin typeface="맑은 고딕"/>
                <a:ea typeface="맑은 고딕"/>
              </a:rPr>
              <a:t>화면 설계서 v4.6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2452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v1~v3 통합 · 자체 완결본 · 화면 35개 · 구현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화면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E9E52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구현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2356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일부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0100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D93A3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미구현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0899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2026-08-13  |  전략기획부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1절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801368"/>
            <a:ext cx="402336" cy="402336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7190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화면 34개 중 26개를 구현했습니다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0391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v4 작성 시점에 23개가 비어 있었습니다. 설정·관리자 화면 8개가 전부 채워졌습니다.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14400" y="2715768"/>
            <a:ext cx="402336" cy="402336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6334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「대응」 공백이 채워졌습니다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9535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시설물 제어(S-11)를 「권고만」 모드로 구현했습니다. 되돌릴 수 없는 행위는 기본값에서 뺐습니다.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290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14400" y="3630168"/>
            <a:ext cx="402336" cy="40233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5478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이제 병목은 AI 실환경 성능입니다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8679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화면과 기반은 갖췄으나 「AI가 실제로 맞히는가」는 아직 증명되지 않았습니다.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434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4544568"/>
            <a:ext cx="402336" cy="40233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4622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통합플랫폼과는 연계 관계로 갑니다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7823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국토부 스마트도시 통합플랫폼을 대체한다고 하면 오히려 감점 요인입니다.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2578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14400" y="5458968"/>
            <a:ext cx="402336" cy="40233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5376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시설물 제어는 「권고」부터 시작합니다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56967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책임 구조가 달라지는 지점이라 단계적으로 열어야 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설계 기준 — 8개 비교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2절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40599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/>
                <a:gridCol w="4023360"/>
                <a:gridCol w="62453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비교 대상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우리가 가져온 것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국토부 스마트도시 통합플랫폼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「단일 화면 처리」 사상 · 5대 연계서비스 연계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EOC / COP 설계 원칙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상태 지표 최소주의 · 인지 부하 감소 최우선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Esri ArcGIS Dashboards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맵+지표+리스트 구성 문법 · 지표에 참조값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지자체 CCTV 통합관제센터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3교대 운영 · 발견→확인→통보→기록 한 호흡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행안부 지하차도 진입차단시설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탐지에서 제어까지 · 감지 즉시 자동 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상용 CAD (Hexagon·Motorola·NEC)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사건 관리 + 자원 디스패치 통합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행안부 재난문자(CBS)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 3계층 분리 · 위급/긴급/안전안내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서울시 실시간 도시데이터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혼잡도 5단계 · 이력 + 예측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76072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D93A3F"/>
                </a:solidFill>
                <a:latin typeface="맑은 고딕"/>
                <a:ea typeface="맑은 고딕"/>
              </a:rPr>
              <a:t>⚠ 연계 규격·법령·인증 요건은 검증하지 못했습니다. 도입 전 재확인이 필요합니다(11절).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설계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3절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0392" y="1856232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이벤트 중심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도메인이 아니라 「사건」이 1급 단위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611880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1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한 호흡 완결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발견→확인→통보→기록을 한 화면에서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373368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지표 최소주의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상태 스트립은 5개까지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34856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8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설정의 화면화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설정파일 직접 편집을 전부 화면으로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0392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9304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모든 조치는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통보·제어·설정변경은 감사로그 필수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7288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3611880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791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접근성 내장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설계 단계부터 반영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373368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기관 비종속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기관명·지점·임계값은 전부 설정값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0264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134856" y="3364992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8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안전측 기본값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4856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되돌릴 수 없는 행위를 기본값으로 두지 않는다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정보구조와 화면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대분류 11 · 화면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정보구조 (IA)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4절 — 화면 ID를 v4에서 새로 부여했습니다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32104" y="1792224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1016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통합 상황판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1개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593592" y="1792224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504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이벤트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S-02~04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3개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355080" y="1792224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대응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S-10~12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3개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116568" y="179222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침수·교통위험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S-20~23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4개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32104" y="320954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016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인파관리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S-30~34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5개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47288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3593592" y="320954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2504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도로 노면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S-40~43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4개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55080" y="3209544"/>
            <a:ext cx="365760" cy="365760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3992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알림·통보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S-50~51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0264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116568" y="3209544"/>
            <a:ext cx="365760" cy="365760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4856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S-60~61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6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32104" y="462686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71016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연계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S-70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1개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47288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3593592" y="4626864"/>
            <a:ext cx="365760" cy="365760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2504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설정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1880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S-80~85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80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6개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08776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6355080" y="4626864"/>
            <a:ext cx="365760" cy="365760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3992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관리자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S-90~91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3368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61120" y="4480560"/>
            <a:ext cx="2542032" cy="1207008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144000" y="468172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총 34개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506577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있음 9 · 일부 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미개발 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화면 목록 (36개)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5절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27632"/>
          <a:ext cx="10817352" cy="4187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822960"/>
                <a:gridCol w="822960"/>
                <a:gridCol w="822960"/>
                <a:gridCol w="822960"/>
                <a:gridCol w="432511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 수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일부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미구현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공통 (로그인·통합상황판)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상황판 노면 카드 실상태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(목록·상세·인수인계)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인수인계 미착수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대응 (자원·시설제어·CBS)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제어 완료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침수·교통위험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목록을 S-80 지정과 일치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인파관리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ROI 3종 · 선택 탐지 30초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도로 노면 관리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S-44 실시간 관제 신설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알림·통보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2인 승인 적용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분석 (통계·모델운영)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규격 미확보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설정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일괄 등록·로고 편집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관리자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35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27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5669280"/>
            <a:ext cx="10817352" cy="62179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583387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도로 노면 관리에 실시간 관제(S-44)가 더해져 세 도메인이 모두 같은 구성을 갖췄습니다. 남은 6개 중 2개는 외부 조건 대기입니다.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역할과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이 절의 결과가 DB 스키마가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운영 역할 3단계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6-1절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41832" y="1874519"/>
            <a:ext cx="658368" cy="65836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SYS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시스템관리자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46504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정보통신 부서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전체 권한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사용자·권한 관리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전 설정 변경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감사 로그 조회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제어 모드 변경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26864" y="1874519"/>
            <a:ext cx="658368" cy="658368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MGR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1536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부서담당자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1536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안전총괄 · 도로 부서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담당 도메인 전체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알림 발송 승인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원격 제어 요청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보고서 확정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담당 도메인 설정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11896" y="1874519"/>
            <a:ext cx="658368" cy="658368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OPR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관제요원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상황실 근무자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조회 · 조치 기록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기관 통보 (112·119)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차단 권고 발송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알림 발송 요청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AI 탐지 실행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779008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9436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MGR은 배정된 도메인(침수/인파/도로)에 한해 권한을 가집니다. SYS는 전 도메인입니다.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권한 매트릭스 (요약)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● 전체  ◐ 조회만  ○ 제한적  – 접근 불가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873752"/>
                <a:gridCol w="1920240"/>
                <a:gridCol w="219456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화면·행위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SYS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MGR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OPR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통합 상황판 · 이벤트 목록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확인·조치 기록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기관 통보 (112·119·재난상황실)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종결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차단 「권고」 발송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「원격 제어 요청」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제어 모드 변경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 발송 승인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도메인 관제 (침수·인파·도로)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운영 설정 (지점·ROI·임계값)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○ 담당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시스템 설정 (모델·기관정보)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사용자·권한 관리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감사 로그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 본인부서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판단 근거와 DB 귀결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6-3 / 6-4절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1832" y="18105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8A5D00"/>
                </a:solidFill>
                <a:latin typeface="맑은 고딕"/>
                <a:ea typeface="맑은 고딕"/>
              </a:rPr>
              <a:t>① 왜 기관 통보는 관제요원 단독인가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176272"/>
            <a:ext cx="4846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관제 운영 규정상 관제요원은 범죄·사고·재난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발견 시 즉시 112상황실·재난상황실에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통보하게 되어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072384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여기에 승인 절차를 넣으면 규정과 충돌합니다.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27632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38544" y="181051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D93A3F"/>
                </a:solidFill>
                <a:latin typeface="맑은 고딕"/>
                <a:ea typeface="맑은 고딕"/>
              </a:rPr>
              <a:t>② 왜 제어 모드 변경은 SYS 전용인가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176272"/>
            <a:ext cx="46634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자동 제어 전환은 시스템의 책임 범위를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바꾸는 행위입니다.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307238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현장 판단으로 켜고 끌 수 있으면 안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E2E"/>
                </a:solidFill>
                <a:latin typeface="맑은 고딕"/>
                <a:ea typeface="맑은 고딕"/>
              </a:rPr>
              <a:t>권한 매트릭스에서 도출되는 테이블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89120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451713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users / user_domains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51713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계정·역할·담당 도메인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389120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0" y="451713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events / event_actions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51713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★ v4 핵심 추가 — 이벤트가 1급 단위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56048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50840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5084064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2인 승인이 컬럼으로 나타남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956048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0" y="50840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facility_controls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5084064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제어 모드·명령·결과 이력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522976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8680" y="565099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shift_handovers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565099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교대 인수인계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522976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0" y="565099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audit_logs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65099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모든 조치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주요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통합 상황판 · 이벤트 상세 · 시설물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상황판 정보 위계 — 「많은 정보」와 「최소주의」의 화해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정보를 줄이는 대신 읽는 시간대별로 층을 나눕니다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847088"/>
            <a:ext cx="493776" cy="493776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77393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3A3F"/>
                </a:solidFill>
                <a:latin typeface="맑은 고딕"/>
                <a:ea typeface="맑은 고딕"/>
              </a:rPr>
              <a:t>3초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08483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지금 비상인가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10512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재난단계 · 미처리 건수 · 강수 · 조위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하천 수위 · 시스템 상태 · 교대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상단 상태바 (항상)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88336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14400" y="2907791"/>
            <a:ext cx="493776" cy="493776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83464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762B"/>
                </a:solidFill>
                <a:latin typeface="맑은 고딕"/>
                <a:ea typeface="맑은 고딕"/>
              </a:rPr>
              <a:t>30초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14553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어디서 무슨 일인가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71216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지도 · 이벤트 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98094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주 영역 (항상)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3968496"/>
            <a:ext cx="493776" cy="49377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89534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8CFF"/>
                </a:solidFill>
                <a:latin typeface="맑은 고딕"/>
                <a:ea typeface="맑은 고딕"/>
              </a:rPr>
              <a:t>3분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20624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조사·판단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931920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이벤트 상세 · CCTV 그리드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위험도 타임라인 · 오늘 현황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4164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하단 전환 패널 (탭)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09744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14400" y="5029200"/>
            <a:ext cx="493776" cy="49377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참조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956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E9E52"/>
                </a:solidFill>
                <a:latin typeface="맑은 고딕"/>
                <a:ea typeface="맑은 고딕"/>
              </a:rPr>
              <a:t>필요할 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526694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맥락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992624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기상·수문·조위 상세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통보 이력 · 당직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10235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우측 접이식 패널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870448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0120" y="603504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8CFF"/>
                </a:solidFill>
                <a:latin typeface="맑은 고딕"/>
                <a:ea typeface="맑은 고딕"/>
              </a:rPr>
              <a:t>최소주의는 「화면 전체」가 아니라 「항상 보이는 영역」에 적용됩니다 — 3층·참조층은 평상시 시선을 뺏지 않습니다.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S-01 통합 상황판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관제 PC 기준 · 솔루션의 얼굴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72768"/>
            <a:ext cx="10817352" cy="416052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13816" y="1682495"/>
            <a:ext cx="10561320" cy="585216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8408" y="177393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F8CFF"/>
                </a:solidFill>
                <a:latin typeface="맑은 고딕"/>
                <a:ea typeface="맑은 고딕"/>
              </a:rPr>
              <a:t>① 상태바 (7개)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7556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재난단계 주의  │  미처리 3 · 처리중 2  │  강수 12mm/h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9339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만조 14:50 (D-30분)  │  하천 2.1m (주의 3.0)  │  CCTV 7/7 · 모델 3/3 · 연계 0/4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2359152"/>
            <a:ext cx="548640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78408" y="248716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② 지도 (주 영역)</a:t>
            </a:r>
          </a:p>
        </p:txBody>
      </p:sp>
      <p:sp>
        <p:nvSpPr>
          <p:cNvPr id="11" name="Oval 10"/>
          <p:cNvSpPr/>
          <p:nvPr/>
        </p:nvSpPr>
        <p:spPr>
          <a:xfrm>
            <a:off x="1965960" y="2889504"/>
            <a:ext cx="146304" cy="14630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287121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범내골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779776"/>
            <a:ext cx="146304" cy="146304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76148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초량</a:t>
            </a:r>
          </a:p>
        </p:txBody>
      </p:sp>
      <p:sp>
        <p:nvSpPr>
          <p:cNvPr id="15" name="Oval 14"/>
          <p:cNvSpPr/>
          <p:nvPr/>
        </p:nvSpPr>
        <p:spPr>
          <a:xfrm>
            <a:off x="4800600" y="3017520"/>
            <a:ext cx="146304" cy="146304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29992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부산역</a:t>
            </a:r>
          </a:p>
        </p:txBody>
      </p:sp>
      <p:sp>
        <p:nvSpPr>
          <p:cNvPr id="17" name="Oval 16"/>
          <p:cNvSpPr/>
          <p:nvPr/>
        </p:nvSpPr>
        <p:spPr>
          <a:xfrm>
            <a:off x="2697480" y="3456432"/>
            <a:ext cx="146304" cy="14630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9504" y="343814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센텀A</a:t>
            </a:r>
          </a:p>
        </p:txBody>
      </p:sp>
      <p:sp>
        <p:nvSpPr>
          <p:cNvPr id="19" name="Oval 18"/>
          <p:cNvSpPr/>
          <p:nvPr/>
        </p:nvSpPr>
        <p:spPr>
          <a:xfrm>
            <a:off x="4343400" y="3639311"/>
            <a:ext cx="146304" cy="146304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621023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벡스코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1363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67690"/>
                </a:solidFill>
                <a:latin typeface="맑은 고딕"/>
                <a:ea typeface="맑은 고딕"/>
              </a:rPr>
              <a:t>● 심각/경계  ● 주의  ● 정상      [침수][인파][노면][전체]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28232" y="2359152"/>
            <a:ext cx="4818888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74536" y="246888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③ 이벤트 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6248" y="2706624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647688" y="2779776"/>
            <a:ext cx="118872" cy="118872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273405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범내골 침수 「경계」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273405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미처리 · 12분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6248" y="2999232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647688" y="3072384"/>
            <a:ext cx="118872" cy="118872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3026663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센텀A 인파 「붐빔」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3026663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처리중 · 김담당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56248" y="3291840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647688" y="3364992"/>
            <a:ext cx="118872" cy="118872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331927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벡스코 노면 보수요청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2" y="331927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미처리 · 2시간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28232" y="3657600"/>
            <a:ext cx="4818888" cy="54864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74536" y="373075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F8CFF"/>
                </a:solidFill>
                <a:latin typeface="맑은 고딕"/>
                <a:ea typeface="맑은 고딕"/>
              </a:rPr>
              <a:t>④ 환경 패널  [접기 ▲]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4536" y="3931920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강수 12mm/h · 1h후 18mm 예보 │ 만조 14:50 — 저지대 주의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" y="4297680"/>
            <a:ext cx="105613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941832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41832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이벤트 상세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14600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514600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CCTV 그리드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87368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087368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위험도 타임라인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0136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660136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오늘 현황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1832" y="4773168"/>
            <a:ext cx="146304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41832" y="504748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67690"/>
                </a:solidFill>
                <a:latin typeface="맑은 고딕"/>
                <a:ea typeface="맑은 고딕"/>
              </a:rPr>
              <a:t>CCTV + ROI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0" y="4809744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61E2E"/>
                </a:solidFill>
                <a:latin typeface="맑은 고딕"/>
                <a:ea typeface="맑은 고딕"/>
              </a:rPr>
              <a:t>범내골교차로 침수 「경계」 (평시 대비 ↑2단계)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61E2E"/>
                </a:solidFill>
                <a:latin typeface="맑은 고딕"/>
                <a:ea typeface="맑은 고딕"/>
              </a:rPr>
              <a:t>수위 추정 18cm · 30분 후 「심각」 예측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132320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현장 확인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93023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193023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부서 통보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53728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253728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112/119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14432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314432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차단 권고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870448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★ 조위(만조)를 넣은 이유 — 부산은 만조와 호우가 겹치면 배수가 안 됩니다. 강수량만으로는 저지대 위험을 판단할 수 없습니다.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상황판 구성 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7절 — 상태바 7개 · 하단 탭 4개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5349240" cy="29443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604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① 상태바 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필요한가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재난 단계 (관심/주의/경계/심각)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기관 전체 대응 태세 — 모든 판단의 전제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미처리 / 처리중 건수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지금 밀린 일의 양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강수 (증감 화살표 포함)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침수의 선행 지표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조위 · 만조 시각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부산 저지대 침수의 결정 변수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하천 수위 (참조값 병기)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2.1m / 주의 3.0m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시스템 상태 (CCTV·모델·연계)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안 보이는 고장이 가장 위험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교대 근무조·담당자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3교대 책임 소재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82512" y="1645920"/>
          <a:ext cx="5120640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⑤ 하단 탭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상세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선택 이벤트 근거·조치 버튼 (기본)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CCTV 그리드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지점 썸네일 일괄 · 등급별 테두리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위험도 타임라인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지점×시간 히트맵 — 기존 자산 재활용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오늘 현황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탐지·처리·평균 대응시간·통보 건수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382512" y="365760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38544" y="38404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F8CFF"/>
                </a:solidFill>
                <a:latin typeface="맑은 고딕"/>
                <a:ea typeface="맑은 고딕"/>
              </a:rPr>
              <a:t>듀얼 모니터 확장 모드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544" y="4151376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2번 모니터에 CCTV 그리드 + 타임라인 상시 표출.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1번은 판단, 2번은 감시로 역할 분담.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029200"/>
            <a:ext cx="10817352" cy="123444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8A5D00"/>
                </a:solidFill>
                <a:latin typeface="맑은 고딕"/>
                <a:ea typeface="맑은 고딕"/>
              </a:rPr>
              <a:t>정보를 더 넣자는 요구가 나올 때의 판정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541264"/>
            <a:ext cx="102412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① 3초 안에 봐야 판단이 바뀌는가 → 예면 상태바, 아니면 하단 탭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② 상태바가 이미 7개인가 → 하나를 빼야 하나를 넣습니다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③ 다른 화면에서 볼 수 있는가 → 그렇다면 상황판에 넣지 않습니다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S-03 이벤트 상세·조치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도메인과 무관하게 하나의 사건을 처리하는 단일 화면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6766560" cy="402336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792224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범내골교차로 침수 「경계」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탐지 14:20 · 경과 12분 · 상태 미처리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95728"/>
            <a:ext cx="1920240" cy="1143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87121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CCTV +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432304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근거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수위 추정 18cm (모델 신뢰도 0.87)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강수 12mm/h · 30분 후 「심각」 예측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3200400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999232" y="3264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탐지 원본 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3200400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17136" y="3264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오탐 신고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94176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E2E"/>
                </a:solidFill>
                <a:latin typeface="맑은 고딕"/>
                <a:ea typeface="맑은 고딕"/>
              </a:rPr>
              <a:t>조치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현장 확인 요청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23744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523744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부서 통보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7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133087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112/119 통보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42432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742432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차단 권고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25696"/>
            <a:ext cx="63093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42415" y="4590288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7690"/>
                </a:solidFill>
                <a:latin typeface="맑은 고딕"/>
                <a:ea typeface="맑은 고딕"/>
              </a:rPr>
              <a:t>조치 기록 입력…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7690"/>
                </a:solidFill>
                <a:latin typeface="맑은 고딕"/>
                <a:ea typeface="맑은 고딕"/>
              </a:rPr>
              <a:t>이력  14:20 자동탐지 · 14:24 홍길동 확인 · 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1627632"/>
            <a:ext cx="3803904" cy="40233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「오탐 신고」를 넣은 이유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231136"/>
            <a:ext cx="329184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우리 모델은 아직 실환경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검증 전입니다.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관제요원이 즉석에서 오탐을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신고할 수 있어야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재학습 데이터가 쌓입니다.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8770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제안서 활용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2062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현장 피드백이 모델 개선으로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이어지는 구조는 타사 대비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설명 가능한 차별점입니다.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S-11 시설물 원격제어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★ 우리는 마지막 한 칸이 비어 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39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CCTV·센서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39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94760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침수 판정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상황실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통보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39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72599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진입차단막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하강·경보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599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없음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71800"/>
            <a:ext cx="10817352" cy="214884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13816" y="3090672"/>
            <a:ext cx="10561320" cy="402336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96696" y="320040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8A5D00"/>
                </a:solidFill>
                <a:latin typeface="맑은 고딕"/>
                <a:ea typeface="맑은 고딕"/>
              </a:rPr>
              <a:t>모드:  권고만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20040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8A5D00"/>
                </a:solidFill>
                <a:latin typeface="맑은 고딕"/>
                <a:ea typeface="맑은 고딕"/>
              </a:rPr>
              <a:t>⚠ 자동제어 꺼짐 — 실제 조작은 담당자가 합니다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57530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24128" y="363931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초량 지하차도 진입차단</a:t>
            </a:r>
          </a:p>
        </p:txBody>
      </p:sp>
      <p:sp>
        <p:nvSpPr>
          <p:cNvPr id="25" name="Oval 24"/>
          <p:cNvSpPr/>
          <p:nvPr/>
        </p:nvSpPr>
        <p:spPr>
          <a:xfrm>
            <a:off x="4892040" y="3657600"/>
            <a:ext cx="137160" cy="1371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36393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D93A3F"/>
                </a:solidFill>
                <a:latin typeface="맑은 고딕"/>
                <a:ea typeface="맑은 고딕"/>
              </a:rPr>
              <a:t>침수감지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393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59359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21040" y="364845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차단 권고 발송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94106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24128" y="400507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범내골 지하차도 진입차단</a:t>
            </a:r>
          </a:p>
        </p:txBody>
      </p:sp>
      <p:sp>
        <p:nvSpPr>
          <p:cNvPr id="32" name="Oval 31"/>
          <p:cNvSpPr/>
          <p:nvPr/>
        </p:nvSpPr>
        <p:spPr>
          <a:xfrm>
            <a:off x="4892040" y="4023360"/>
            <a:ext cx="137160" cy="137160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40050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E9E52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0050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95935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21040" y="401421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상태 조회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30682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24128" y="437083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센텀 배수펌프장</a:t>
            </a:r>
          </a:p>
        </p:txBody>
      </p:sp>
      <p:sp>
        <p:nvSpPr>
          <p:cNvPr id="39" name="Oval 38"/>
          <p:cNvSpPr/>
          <p:nvPr/>
        </p:nvSpPr>
        <p:spPr>
          <a:xfrm>
            <a:off x="4892040" y="4389120"/>
            <a:ext cx="137160" cy="137160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43708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C8930B"/>
                </a:solidFill>
                <a:latin typeface="맑은 고딕"/>
                <a:ea typeface="맑은 고딕"/>
              </a:rPr>
              <a:t>가동중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3708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432511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321040" y="43799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상태 조회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467258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24128" y="473659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부산역 지하차도</a:t>
            </a:r>
          </a:p>
        </p:txBody>
      </p:sp>
      <p:sp>
        <p:nvSpPr>
          <p:cNvPr id="46" name="Oval 45"/>
          <p:cNvSpPr/>
          <p:nvPr/>
        </p:nvSpPr>
        <p:spPr>
          <a:xfrm>
            <a:off x="4892040" y="4754880"/>
            <a:ext cx="137160" cy="13716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02352" y="47365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미연계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7365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69087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321040" y="47457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연계 규격 필요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285232"/>
            <a:ext cx="108173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화면에 반드시 표시할 것 — 현재 모드를 항상 상단에 크게 (자동인지 모르는 상태가 가장 위험) ·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모든 제어 시도는 감사 로그 · 연동 끊긴 시설은 「미연계」로 명확히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제어 범위 — 3단계로 나눠 접근합니다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책임 구조가 달라지는 지점입니다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3544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권고만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탐지 → 차단 「권고 알림」만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실제 조작은 담당자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E9E52"/>
                </a:solidFill>
                <a:latin typeface="맑은 고딕"/>
                <a:ea typeface="맑은 고딕"/>
              </a:rPr>
              <a:t>위험 낮음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⭐ 기본값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08576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30B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원격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제어 요청 송신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최종 실행은 시설 측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930B"/>
                </a:solidFill>
                <a:latin typeface="맑은 고딕"/>
                <a:ea typeface="맑은 고딕"/>
              </a:rPr>
              <a:t>위험 중간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실환경 검증 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93608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자동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조건 충족 시 자동 제어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3A3F"/>
                </a:solidFill>
                <a:latin typeface="맑은 고딕"/>
                <a:ea typeface="맑은 고딕"/>
              </a:rPr>
              <a:t>위험 높음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별도 계약·보험 필요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63440"/>
            <a:ext cx="10817352" cy="123444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86460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8CFF"/>
                </a:solidFill>
                <a:latin typeface="맑은 고딕"/>
                <a:ea typeface="맑은 고딕"/>
              </a:rPr>
              <a:t>권고 — 1단계로 시작합니다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12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화면은 3단계까지 설계하되 기본값은 「권고만」입니다. 모드 변경은 시스템관리자 전용입니다.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오작동·미작동 시 책임 범위는 착수 전에 법무·계약으로 확정해야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알림 3계층과 재난문자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8절 — 성격이 다른 세 가지를 분리했습니다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10817351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2468880"/>
                <a:gridCol w="2194560"/>
                <a:gridCol w="1554480"/>
                <a:gridCol w="1856231"/>
                <a:gridCol w="11887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수단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되돌리기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권한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① 내부 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담당 부서·상황실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문자·알림톡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가능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 단독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S-03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② 기관 통보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112·119·재난상황실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 API·유선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정정 가능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 단독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S-03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③ 주민 경보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불특정 다수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CBS 재난문자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불가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2인 승인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S-12·S-50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379476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1832" y="39867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8A5D00"/>
                </a:solidFill>
                <a:latin typeface="맑은 고딕"/>
                <a:ea typeface="맑은 고딕"/>
              </a:rPr>
              <a:t>S-12 재난문자 발송 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352544"/>
            <a:ext cx="48463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등급  ○위급재난  ⦿긴급재난  ○안전안내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대상 지역  동구 초량동 일대 (기지국 기준)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문안  [동구] 초량지하차도 침수로 전면 통제…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5266944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90자 이내 · [요청서 생성] [클립보드 복사]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3794760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38544" y="398678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3A3F"/>
                </a:solidFill>
                <a:latin typeface="맑은 고딕"/>
                <a:ea typeface="맑은 고딕"/>
              </a:rPr>
              <a:t>직접 송출하지 않습니다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4334256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CBS는 지자체 권한이며 행안부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시스템으로 발송됩니다.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우리는 요청서 문안까지만 만들어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넘깁니다 — 이 문구를 화면에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고정 표시합니다.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그 밖의 신규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S-34 · S-43 · S-61 · S-60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S-34 인파 혼잡도 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5단계 — 여유 / 보통 / 약간 붐빔 /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붐빔 / 매우 붐빔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최근 12시간 이력 + 향후 12시간 예측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⚠ 예측 모델은 아직 없습니다.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운영 데이터 6개월 이상 필요.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S-43 시민 제보 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시민·순찰원이 스마트폰으로 제보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→ 담당자 확인 → 보수 요청 전환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→ 제보 사진이 그대로 학습 데이터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데이터 3회 실패의 우회 경로.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운영하며 부산 데이터를 스스로 축적.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S-61 AI 모델 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모델별 탐지 건수·오탐률·상태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4.9% / 인파 2.6% / 노면 개발중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재학습 데이터 내보내기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오탐률을 계속 보지 않으면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성능 저하를 놓칩니다.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S-60 통계·성과 리포트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기간별 탐지 건수 · 대응 소요시간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등급 분포 · 조치 완료율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지자체 연말 성과 보고용.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그 숫자가 다음 해 예산 근거가 되어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재계약에 유리합니다.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v4.2 신규 — CCTV 통합 관리와 상시 탐지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S-80 · S-81 · S-30 — 세 탐지서비스가 CCTV를 공유합니다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S-80 CCTV 관리 — 3단계 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① CCTV 등록 — 지점이 존재한다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 탐지서비스 지정 — 이 서비스가 쓴다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③ 상시 탐지 — 요청 없이도 계속 본다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②만 켜면 「선택 탐지」입니다.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관제요원이 지점을 골라 실행합니다.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도메인별 상시 탐지 주기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 연속 (약 5 fps)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인파  지점당 5초 표본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 지점당 15분 순회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검출 비용이 달라 같은 주기로 돌릴 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없습니다. 켠 지점 수만큼 CPU를 씁니다.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S-81 ROI — 도메인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 도로 ROI (필수) · 저지대 · 차선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인파  침입 금지 구역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 노면 분석 구간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같은 카메라라도 서비스마다 보는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영역이 다릅니다.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S-30 인파 CCTV 선택 탐지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지점 선택 → 30초 관측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인원·밀집도·배회·침입 + 스냅샷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전 지점 상시 분석은 CPU가 감당하지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못해 「고를 때만」 돌립니다.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위험등급은 관측 구간의 최댓값입니다.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v4.3 신규 — 운영 편의와 실탐지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S-40 · S-80 · S-81 · S-85 — 2026. 8. 12. 갱신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S-40 노면 현황 재작성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모의 데이터를 걷어내고 실제 탐지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결과를 싣습니다.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대상은 S-80 「노면 사용」 지정 CCTV.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지점을 고르면 오른쪽에 결과가 남고,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카드에서 바로 분석을 실행합니다.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「분석 실패」를 따로 둡니다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미분석 — 아직 본 적 없음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분석 실패 — 프레임 0장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정상·주의·경계 — 실제 결과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프레임 0장인데 「정상」으로 두면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못 본 구간을 점검 완료로 오해합니다.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S-80 일괄 등록·내려받기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① 교통정보 API 자동 수집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 엑셀 업로드 (양식 제공)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③ 목록 엑셀 내려받기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②③은 열이 같아 왕복 편집됩니다.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올리면 미리보기부터 — 확인 후 등록.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S-85 로고·솔루션명 · S-81 인파 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좌측 상단 로고를 화면에서 교체하고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크기를 (556px, 116px) 로 표기합니다.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가운데 상단 문구도 편집합니다.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인파 ROI 3종 — 분석 영역·침입 금지·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배회 감시. 교통 CCTV의 차도를 뺍니다.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v4.4 신규 — 가용성 확보와 노면 실시간 관제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S-44 · S-01 · S-80 — 2026. 8. 13. 갱신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★ 서비스가 밤사이 죽었습니다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DNS 장애 중 8개 스레드가 1초마다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재접속하다 세그폴트(exit 139).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① 호스트가 안 풀리면 FFmpeg 미호출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 재접속 간격 1→60초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③ 죽으면 감시가 되살림 (실측 5초)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S-44 노면 실시간 관제 신설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「3/8 올림픽교차로 관측 중」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지금 어디를 보는지 보여 줍니다.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갱신 지연 · 반영 대기 · 관측 중을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구분해 표시합니다 — 「상시」 배지가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관측 중이라는 뜻은 아닙니다.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설정이 즉시 반영됩니다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S-80에서 상시 지정을 바꾸면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노면은 그 자리에서 반영됩니다.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예전에는 재시작 전까지 아무도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그 지점을 보지 않았습니다.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(인파는 추적 보존 위해 유지)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⚠ 노면 AI — 실시간 CCTV는 접습니다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SVRDD 45° 부감으로 4차 학습.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더 학습할수록 나빠졌습니다.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오탐 12건→43건, 전부 차선 도색.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240p에서는 차선과 균열이 구분되지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않습니다 → 「참고 자료」로 한정.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v4.6 신규 — 오류 관리와 모델 운영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S-92 · S-93 · S-61 · S-90 — 2026. 8. 15. 갱신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★ 오류 관리 신설 (S-92·S-93)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밤사이 고장이 콘솔 로그로만 흘러가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아무도 보지 못했습니다.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① 화면·API + 백그라운드까지 수집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 같은 오류는 한 줄로 묶어 횟수만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③ 코드별 원인·해결방법을 함께 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★ 모델 시험 탐지 (S-61)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모델을 바꿔 보려면 코드를 고쳐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재기동해야 했습니다.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같은 지점에 모델을 바꿔 가며 대 보고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미리보기 화면으로 눈으로 비교합니다.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탐지 0건이 「안 보임」일 수도 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★ 운영 모델을 화면에서 지정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노면은 저장 즉시 다음 순회부터,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침수·인파는 재기동해야 반영됩니다.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그 차이를 감추지 않고 화면에 적습니다 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「저장했습니다」로만 끝내면 바뀐 줄 알고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관제하게 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계정 복구와 하드코딩 제거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시스템관리자 비밀번호를 모두 잃으면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복구 경로가 없었습니다 (CLI 신설).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S-61 의 「v0.3 · 개발중」 고정값을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파일·실적 기반 계산으로 교체했습니다.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사람의 판단은 편집 가능한 비고로 분리.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공통 사항과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반응형 · 접근성 · 망분리 · 개인정보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반응형 3등급제와 웹 접근성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9-2 / 9-3절 — 전면 반응형은 채택하지 않습니다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5349240" cy="18105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777240"/>
                <a:gridCol w="28346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A 데스크톱 고정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유동 레이아웃만 · 반응형 불필요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B 모바일 필수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로그인 · 이벤트상세 · 시민제보 · 알림승인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 태블릿까지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설정 · 통계 · 이력류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566160"/>
            <a:ext cx="5349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유동 레이아웃(고정 px 금지)은 전 34화면 필수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A군: 3교대 상황실은 고정 자리·고정 장비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ROI 설정은 정밀 좌표 클릭 — 터치 불가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⚠ 시설물 제어는 모바일 차단이 안전 요건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QA 조합 136 → 60가지로 감소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2512" y="1645920"/>
          <a:ext cx="5120640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19202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접근성 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현재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색상만으로 정보 전달 금지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위반 (위험등급)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 정보의 텍스트 대체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키보드만으로 조작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위반 (모달)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대체 텍스트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명도 대비 · 초점 표시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미확인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82512" y="4114800"/>
            <a:ext cx="5120640" cy="16002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38544" y="42976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F8CFF"/>
                </a:solidFill>
                <a:latin typeface="맑은 고딕"/>
                <a:ea typeface="맑은 고딕"/>
              </a:rPr>
              <a:t>반응형은 접근성과 맞물립니다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544" y="4626864"/>
            <a:ext cx="466344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확대 시 가로 스크롤 없이 재배치되어야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하는 기준이 있어, 반응형으로 만들면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접근성 대응 비용이 줄어듭니다.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⚠ 인증 요구 여부는 발주 사양서 확인 필요.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망분리와 개인정보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9-4 / 9-5절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17007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4572000"/>
                <a:gridCol w="35021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문제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조치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CCTV 재생 라이브러리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CDN — 폐쇄망에서 영상 안 나옴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로컬 번들 (난이도 하)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 배경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지도 서비스 차단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지자체 GIS 연계 1순위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API (KMA·SOLAPI)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통신 차단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 방식 재설계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29184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⚠ 망분리 여부가 이 세 가지를 모두 좌우합니다 — 가장 먼저 확인할 인프라 조건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3749039"/>
          <a:ext cx="10817352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3657600"/>
                <a:gridCol w="44165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기능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쟁점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권고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배회 탐지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개인 행동 추적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PIA 대상 여부 확인 필요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성별·연령 추정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민감정보 추정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넣지 않기를 권고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시민 제보 사진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사람·차량번호 포함 가능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접수 시 자동 마스킹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자원 위치 추적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직원 위치정보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1차 범위 제외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5715000"/>
            <a:ext cx="10817352" cy="62179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5888736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D93A3F"/>
                </a:solidFill>
                <a:latin typeface="맑은 고딕"/>
                <a:ea typeface="맑은 고딕"/>
              </a:rPr>
              <a:t>서울시의 성별·연령 추정은 통신사 데이터 기반이고 우리는 CCTV 영상 분석입니다 — 쟁점의 크기가 다릅니다.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구현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10절 — 기간은 개발부 협의 후 별도 산정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13816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권한 매트릭스 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026664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DB 스키마 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1496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239512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1848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로그인·인증 가드 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4344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52360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696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사용자·감사 로그 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37192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665208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67544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이벤트 모델·상세 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13816" y="2798064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통합 상황판 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98648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3026664" y="2798064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알림 승인·이력 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1496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239512" y="2798064"/>
            <a:ext cx="329184" cy="32918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시설물 제어(권고) 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24344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52360" y="2798064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4696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설정 화면군 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37192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665208" y="2798064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시민 제보 접수 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13816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모델 운영·통계 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98648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3026664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자원·출동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11496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5239512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1848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인수인계·CBS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24344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452360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54696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외부 연계 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37192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9665208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67544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접근성 대응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489204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41832" y="506577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F8CFF"/>
                </a:solidFill>
                <a:latin typeface="맑은 고딕"/>
                <a:ea typeface="맑은 고딕"/>
              </a:rPr>
              <a:t>①~⑪ 완료 · v4.2~4.4 추가분 완료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" y="535838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테스트 445개 통과. 세 도메인이 같은 화면 구성을 갖췄습니다.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82512" y="489204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638544" y="506577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A5D00"/>
                </a:solidFill>
                <a:latin typeface="맑은 고딕"/>
                <a:ea typeface="맑은 고딕"/>
              </a:rPr>
              <a:t>⑭ 외부 연계는 착수 불가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38544" y="535838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연계 규격을 하나도 확보하지 못했습니다.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98932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v4.4 추가 — 노면 실시간 관제(S-44) · 세그폴트 방어 · 설정 즉시 반영 · 학습 데이터 수집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035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확인이 필요한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1·2번은 제품 범위 자체가 걸린 사안입니다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0392" y="1773936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190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지하차도 차단시설 연동 규격·제어 권한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9933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도로관리청 / 제조사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276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382512" y="1773936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7190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제어 오작동 시 책임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19933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법무 / 계약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0487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50392" y="255117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49631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스마트도시 통합플랫폼 연계 규격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77063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국토부 / 지자체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0487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382512" y="255117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49631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망분리 여부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77063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인프라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8211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0392" y="332841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327355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CBS 연계 가능 여부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54787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행안부 / 재난부서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18211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382512" y="332841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327355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개인정보 영향평가 대상 여부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354787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개인정보 담당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95935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50392" y="4105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405079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지도 배경 조달 방식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432511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GIS 담당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95935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82512" y="4105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405079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112/119 통보 권한·절차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32511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관제센터 운영규정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73659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50392" y="488289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4168" y="482803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주민 알림 승인 구조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510235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고객 운영규정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73659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382512" y="488289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482803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웹 접근성(WA) 인증 요구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510235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발주 사양서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5138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50392" y="566013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44168" y="56052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지자체 SSO 연계 여부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168" y="58795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정보통신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55138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6382512" y="566013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76288" y="56052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상표 정식 조회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58795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특허청 키프리스 42류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미해결 과제 — 정직한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설계서 12절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3544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AI 실환경 성능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인파는 아직 모의(mock),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노면은 240p에서 차선 오탐 — 접음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08576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AGPL 라이선스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침수는 BSD 전환 완료.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노면·마스킹은 여전히 Ultralytics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5864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93608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학습 환경·데이터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GPU 없음(CPU 18시간/4에폭).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손상이 보이는 주행 영상 미확보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3544" y="3721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운영 보안·개인정보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41239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HTTPS 미적용, 파기 미구현,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학습 데이터 목적 외 이용 판단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5204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08576" y="3721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외부 연계 일체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1239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통합플랫폼·112·119·CBS·차단시설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— 규격을 하나도 확보하지 못했습니다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8BE"/>
                </a:solidFill>
                <a:latin typeface="맑은 고딕"/>
                <a:ea typeface="맑은 고딕"/>
              </a:rPr>
              <a:t>UrbanGuard  ·  앤시정보기술(주)  ·  화면 설계서 v4.4  ·  2026-08-13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
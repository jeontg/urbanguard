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2" r:id="rId33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72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8CFF"/>
                </a:solidFill>
                <a:latin typeface="맑은 고딕"/>
                <a:ea typeface="맑은 고딕"/>
              </a:rPr>
              <a:t>화면 설계서 v4 (최종)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v1~v3 통합 · 자체 완결본 · 화면 34개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9E52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일부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0100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3A3F"/>
                </a:solidFill>
                <a:latin typeface="맑은 고딕"/>
                <a:ea typeface="맑은 고딕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미개발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89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2026-08-07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01368"/>
            <a:ext cx="402336" cy="40233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190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화면 34개 중 26개를 구현했습니다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391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 작성 시점에 23개가 비어 있었습니다. 설정·관리자 화면 8개가 전부 채워졌습니다.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2715768"/>
            <a:ext cx="402336" cy="40233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6334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「대응」 공백이 채워졌습니다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535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시설물 제어(S-11)를 「권고만」 모드로 구현했습니다. 되돌릴 수 없는 행위는 기본값에서 뺐습니다.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5478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이제 병목은 AI 실환경 성능입니다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679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화면과 기반은 갖췄으나 「AI가 실제로 맞히는가」는 아직 증명되지 않았습니다.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544568"/>
            <a:ext cx="402336" cy="40233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62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통합플랫폼과는 연계 관계로 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7823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국토부 스마트도시 통합플랫폼을 대체한다고 하면 오히려 감점 요인입니다.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578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" y="5458968"/>
            <a:ext cx="402336" cy="40233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시설물 제어는 「권고」부터 시작합니다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6967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지점이라 단계적으로 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기준 — 8개 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059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4023360"/>
                <a:gridCol w="6245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우리가 가져온 것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국토부 스마트도시 통합플랫폼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「단일 화면 처리」 사상 · 5대 연계서비스 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EOC / COP 설계 원칙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상태 지표 최소주의 · 인지 부하 감소 최우선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Esri ArcGIS Dashboards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맵+지표+리스트 구성 문법 · 지표에 참조값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CCTV 통합관제센터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운영 · 발견→확인→통보→기록 한 호흡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지하차도 진입차단시설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탐지에서 제어까지 · 감지 즉시 자동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상용 CAD (Hexagon·Motorola·NEC)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사건 관리 + 자원 디스패치 통합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재난문자(CBS)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3계층 분리 · 위급/긴급/안전안내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서울시 실시간 도시데이터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5단계 · 이력 + 예측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D93A3F"/>
                </a:solidFill>
                <a:latin typeface="맑은 고딕"/>
                <a:ea typeface="맑은 고딕"/>
              </a:rPr>
              <a:t>⚠ 연계 규격·법령·인증 요건은 검증하지 못했습니다. 도입 전 재확인이 필요합니다(11절).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5623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도메인이 아니라 「사건」이 1급 단위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한 호흡 완결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발견→확인→통보→기록을 한 화면에서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지표 최소주의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상태 스트립은 5개까지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34856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설정의 화면화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설정파일 직접 편집을 전부 화면으로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모든 조치는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통보·제어·설정변경은 감사로그 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11880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접근성 내장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설계 단계부터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기관 비종속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기관명·지점·임계값은 전부 설정값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4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34856" y="336499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안전측 기본값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되돌릴 수 없는 행위를 기본값으로 두지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정보구조와 화면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대분류 11 · 화면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정보구조 (IA)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 — 화면 ID를 v4에서 새로 부여했습니다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2104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93592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S-02~04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55080" y="1792224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S-10~12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16568" y="179222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S-20~23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S-30~34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593592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S-40~43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S-50~51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116568" y="3209544"/>
            <a:ext cx="365760" cy="3657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S-60~61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2104" y="462686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1016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7288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593592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2504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S-80~85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6개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8776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355080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S-90~91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4480560"/>
            <a:ext cx="2542032" cy="1207008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0" y="46817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총 34개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065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있음 9 · 일부 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미개발 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화면 목록 (34개)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7632"/>
          <a:ext cx="10817352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822960"/>
                <a:gridCol w="822960"/>
                <a:gridCol w="822960"/>
                <a:gridCol w="822960"/>
                <a:gridCol w="4325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(목록·상세·인수인계)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인수인계 미착수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대응 (자원·시설제어·CBS)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제어 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보고서 확정 절차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예측 미착수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보수이력 미착수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알림·통보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 적용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분석 (통계·모델운영)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규격 미확보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전부 완료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6928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833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설정 6개 + 관리자 2개가 v4의 최대 공백이었고 지금은 전부 구현됐습니다 — 지자체가 지점을 늘릴 때 우리가 출동할 필요가 없어졌습니다.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역할과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이 절의 결과가 DB 스키마가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운영 역할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1874519"/>
            <a:ext cx="658368" cy="65836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시스템관리자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정보통신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전체 권한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 설정 변경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감사 로그 조회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제어 모드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26864" y="1874519"/>
            <a:ext cx="658368" cy="65836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부서담당자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안전총괄 · 도로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전체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알림 발송 승인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원격 제어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보고서 확정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1896" y="1874519"/>
            <a:ext cx="658368" cy="65836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OPR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상황실 근무자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조회 · 조치 기록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기관 통보 (112·119)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차단 권고 발송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알림 발송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AI 탐지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7900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MGR은 배정된 도메인(침수/인파/도로)에 한해 권한을 가집니다. SYS는 전 도메인입니다.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권한 매트릭스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● 전체  ◐ 조회만  ○ 제한적  – 접근 불가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73752"/>
                <a:gridCol w="1920240"/>
                <a:gridCol w="219456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화면·행위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MGR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OPR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 상황판 · 이벤트 목록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확인·조치 기록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통보 (112·119·재난상황실)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종결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차단 「권고」 발송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「원격 제어 요청」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제어 모드 변경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발송 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관제 (침수·인파·도로)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 설정 (지점·ROI·임계값)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담당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설정 (모델·기관정보)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사용자·권한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감사 로그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 본인부서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판단 근거와 DB 귀결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6-3 / 6-4절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① 왜 기관 통보는 관제요원 단독인가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관제 운영 규정상 관제요원은 범죄·사고·재난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발견 시 즉시 112상황실·재난상황실에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통보하게 되어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7238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여기에 승인 절차를 넣으면 규정과 충돌합니다.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27632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810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3A3F"/>
                </a:solidFill>
                <a:latin typeface="맑은 고딕"/>
                <a:ea typeface="맑은 고딕"/>
              </a:rPr>
              <a:t>② 왜 제어 모드 변경은 SYS 전용인가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176272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자동 제어 전환은 시스템의 책임 범위를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바꾸는 행위입니다.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0723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현장 판단으로 켜고 끌 수 있으면 안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권한 매트릭스에서 도출되는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users / user_domains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계정·역할·담당 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events / event_actions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★ v4 핵심 추가 — 이벤트가 1급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2인 승인이 컬럼으로 나타남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facility_controls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제어 모드·명령·결과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shift_handovers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교대 인수인계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audit_logs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모든 조치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주요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통합 상황판 · 이벤트 상세 · 시설물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정보 위계 — 「많은 정보」와 「최소주의」의 화해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정보를 줄이는 대신 읽는 시간대별로 층을 나눕니다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47088"/>
            <a:ext cx="493776" cy="49377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7739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3F"/>
                </a:solidFill>
                <a:latin typeface="맑은 고딕"/>
                <a:ea typeface="맑은 고딕"/>
              </a:rPr>
              <a:t>3초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0848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지금 비상인가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1051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재난단계 · 미처리 건수 · 강수 · 조위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하천 수위 · 시스템 상태 · 교대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상단 상태바 (항상)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8336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2907791"/>
            <a:ext cx="493776" cy="49377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83464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762B"/>
                </a:solidFill>
                <a:latin typeface="맑은 고딕"/>
                <a:ea typeface="맑은 고딕"/>
              </a:rPr>
              <a:t>30초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14553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어디서 무슨 일인가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71216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지도 · 이벤트 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809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주 영역 (항상)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3968496"/>
            <a:ext cx="493776" cy="49377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89534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3분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조사·판단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3192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이벤트 상세 · CCTV 그리드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위험도 타임라인 · 오늘 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416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하단 전환 패널 (탭)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9744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4400" y="5029200"/>
            <a:ext cx="493776" cy="49377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참조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956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9E52"/>
                </a:solidFill>
                <a:latin typeface="맑은 고딕"/>
                <a:ea typeface="맑은 고딕"/>
              </a:rPr>
              <a:t>필요할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26694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맥락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9262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기상·수문·조위 상세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 이력 · 당직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1023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우측 접이식 패널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8CFF"/>
                </a:solidFill>
                <a:latin typeface="맑은 고딕"/>
                <a:ea typeface="맑은 고딕"/>
              </a:rPr>
              <a:t>최소주의는 「화면 전체」가 아니라 「항상 보이는 영역」에 적용됩니다 — 3층·참조층은 평상시 시선을 뺏지 않습니다.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S-01 통합 상황판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관제 PC 기준 · 솔루션의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10817352" cy="416052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682495"/>
            <a:ext cx="10561320" cy="585216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8" y="17739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F8CFF"/>
                </a:solidFill>
                <a:latin typeface="맑은 고딕"/>
                <a:ea typeface="맑은 고딕"/>
              </a:rPr>
              <a:t>① 상태바 (7개)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556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재난단계 주의  │  미처리 3 · 처리중 2  │  강수 12mm/h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9339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만조 14:50 (D-30분)  │  하천 2.1m (주의 3.0)  │  CCTV 7/7 · 모델 3/3 · 연계 0/4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2359152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② 지도 (주 영역)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2889504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8712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범내골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779776"/>
            <a:ext cx="146304" cy="146304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7614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초량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3017520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29992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부산역</a:t>
            </a:r>
          </a:p>
        </p:txBody>
      </p:sp>
      <p:sp>
        <p:nvSpPr>
          <p:cNvPr id="17" name="Oval 16"/>
          <p:cNvSpPr/>
          <p:nvPr/>
        </p:nvSpPr>
        <p:spPr>
          <a:xfrm>
            <a:off x="2697480" y="3456432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343814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센텀A</a:t>
            </a:r>
          </a:p>
        </p:txBody>
      </p:sp>
      <p:sp>
        <p:nvSpPr>
          <p:cNvPr id="19" name="Oval 18"/>
          <p:cNvSpPr/>
          <p:nvPr/>
        </p:nvSpPr>
        <p:spPr>
          <a:xfrm>
            <a:off x="4343400" y="3639311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21023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벡스코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136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● 심각/경계  ● 주의  ● 정상      [침수][인파][노면][전체]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2359152"/>
            <a:ext cx="481888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74536" y="246888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③ 이벤트 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2706624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647688" y="2779776"/>
            <a:ext cx="118872" cy="11887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7340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범내골 침수 「경계」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73405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12분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6248" y="2999232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647688" y="3072384"/>
            <a:ext cx="118872" cy="118872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02666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센텀A 인파 「붐빔」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302666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처리중 · 김담당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6248" y="3291840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647688" y="3364992"/>
            <a:ext cx="118872" cy="118872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3192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벡스코 노면 보수요청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31927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2시간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8232" y="3657600"/>
            <a:ext cx="4818888" cy="5486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74536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맑은 고딕"/>
                <a:ea typeface="맑은 고딕"/>
              </a:rPr>
              <a:t>④ 환경 패널  [접기 ▲]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93192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강수 12mm/h · 1h후 18mm 예보 │ 만조 14:50 — 저지대 주의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" y="4297680"/>
            <a:ext cx="10561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41832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1832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이벤트 상세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514600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CCTV 그리드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87368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087368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위험도 타임라인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0136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0136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오늘 현황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" y="4773168"/>
            <a:ext cx="146304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41832" y="5047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80974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 (평시 대비 ↑2단계)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수위 추정 18cm · 30분 후 「심각」 예측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32320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현장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93023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93023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3728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253728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112/119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14432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314432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7044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★ 조위(만조)를 넣은 이유 — 부산은 만조와 호우가 겹치면 배수가 안 됩니다. 강수량만으로는 저지대 위험을 판단할 수 없습니다.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구성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7절 — 상태바 7개 · 하단 탭 4개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상태바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필요한가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재난 단계 (관심/주의/경계/심각)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전체 대응 태세 — 모든 판단의 전제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미처리 / 처리중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지금 밀린 일의 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강수 (증감 화살표 포함)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침수의 선행 지표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조위 · 만조 시각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부산 저지대 침수의 결정 변수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하천 수위 (참조값 병기)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2.1m / 주의 3.0m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상태 (CCTV·모델·연계)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안 보이는 고장이 가장 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교대 근무조·담당자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책임 소재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82512" y="1645920"/>
          <a:ext cx="512064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⑤ 하단 탭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상세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선택 이벤트 근거·조치 버튼 (기본)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그리드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 썸네일 일괄 · 등급별 테두리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위험도 타임라인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지점×시간 히트맵 — 기존 자산 재활용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오늘 현황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탐지·처리·평균 대응시간·통보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82512" y="36576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38544" y="38404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듀얼 모니터 확장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415137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2번 모니터에 CCTV 그리드 + 타임라인 상시 표출.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1번은 판단, 2번은 감시로 역할 분담.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2920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정보를 더 넣자는 요구가 나올 때의 판정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41264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① 3초 안에 봐야 판단이 바뀌는가 → 예면 상태바, 아니면 하단 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② 상태바가 이미 7개인가 → 하나를 빼야 하나를 넣습니다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③ 다른 화면에서 볼 수 있는가 → 그렇다면 상황판에 넣지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S-03 이벤트 상세·조치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도메인과 무관하게 하나의 사건을 처리하는 단일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6766560" cy="40233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탐지 14:20 · 경과 12분 · 상태 미처리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871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32304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근거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수위 추정 18cm (모델 신뢰도 0.87)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강수 12mm/h · 30분 후 「심각」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99232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탐지 원본 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17136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오탐 신고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현장 확인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3744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23744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33087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42432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25696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5902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조치 기록 입력…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이력  14:20 자동탐지 · 14:24 홍길동 확인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1627632"/>
            <a:ext cx="3803904" cy="40233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「오탐 신고」를 넣은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31136"/>
            <a:ext cx="329184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검증 전입니다.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관제요원이 즉석에서 오탐을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신고할 수 있어야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재학습 데이터가 쌓입니다.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77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제안서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현장 피드백이 모델 개선으로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이어지는 구조는 타사 대비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설명 가능한 차별점입니다.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S-11 시설물 원격제어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★ 우리는 마지막 한 칸이 비어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3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CCTV·센서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 판정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상황실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진입차단막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하강·경보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10817352" cy="21488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3816" y="3090672"/>
            <a:ext cx="10561320" cy="402336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6" y="32004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D00"/>
                </a:solidFill>
                <a:latin typeface="맑은 고딕"/>
                <a:ea typeface="맑은 고딕"/>
              </a:rPr>
              <a:t>모드:  권고만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8A5D00"/>
                </a:solidFill>
                <a:latin typeface="맑은 고딕"/>
                <a:ea typeface="맑은 고딕"/>
              </a:rPr>
              <a:t>⚠ 자동제어 꺼짐 — 실제 조작은 담당자가 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57530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363931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초량 지하차도 진입차단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657600"/>
            <a:ext cx="137160" cy="1371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93A3F"/>
                </a:solidFill>
                <a:latin typeface="맑은 고딕"/>
                <a:ea typeface="맑은 고딕"/>
              </a:rPr>
              <a:t>침수감지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9359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364845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 발송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4106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400507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범내골 지하차도 진입차단</a:t>
            </a:r>
          </a:p>
        </p:txBody>
      </p:sp>
      <p:sp>
        <p:nvSpPr>
          <p:cNvPr id="32" name="Oval 31"/>
          <p:cNvSpPr/>
          <p:nvPr/>
        </p:nvSpPr>
        <p:spPr>
          <a:xfrm>
            <a:off x="4892040" y="4023360"/>
            <a:ext cx="137160" cy="1371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E9E52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95935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40142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0682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24128" y="437083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센텀 배수펌프장</a:t>
            </a:r>
          </a:p>
        </p:txBody>
      </p:sp>
      <p:sp>
        <p:nvSpPr>
          <p:cNvPr id="39" name="Oval 38"/>
          <p:cNvSpPr/>
          <p:nvPr/>
        </p:nvSpPr>
        <p:spPr>
          <a:xfrm>
            <a:off x="4892040" y="4389120"/>
            <a:ext cx="137160" cy="137160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8930B"/>
                </a:solidFill>
                <a:latin typeface="맑은 고딕"/>
                <a:ea typeface="맑은 고딕"/>
              </a:rPr>
              <a:t>가동중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32511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21040" y="4379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67258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24128" y="473659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부산역 지하차도</a:t>
            </a:r>
          </a:p>
        </p:txBody>
      </p:sp>
      <p:sp>
        <p:nvSpPr>
          <p:cNvPr id="46" name="Oval 45"/>
          <p:cNvSpPr/>
          <p:nvPr/>
        </p:nvSpPr>
        <p:spPr>
          <a:xfrm>
            <a:off x="4892040" y="4754880"/>
            <a:ext cx="137160" cy="1371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미연계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69087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21040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연계 규격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85232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화면에 반드시 표시할 것 — 현재 모드를 항상 상단에 크게 (자동인지 모르는 상태가 가장 위험) 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모든 제어 시도는 감사 로그 · 연동 끊긴 시설은 「미연계」로 명확히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제어 범위 — 3단계로 나눠 접근합니다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 → 차단 「권고 알림」만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실제 조작은 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52"/>
                </a:solidFill>
                <a:latin typeface="맑은 고딕"/>
                <a:ea typeface="맑은 고딕"/>
              </a:rPr>
              <a:t>위험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⭐ 기본값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30B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원격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제어 요청 송신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최종 실행은 시설 측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930B"/>
                </a:solidFill>
                <a:latin typeface="맑은 고딕"/>
                <a:ea typeface="맑은 고딕"/>
              </a:rPr>
              <a:t>위험 중간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실환경 검증 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자동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조건 충족 시 자동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3A3F"/>
                </a:solidFill>
                <a:latin typeface="맑은 고딕"/>
                <a:ea typeface="맑은 고딕"/>
              </a:rPr>
              <a:t>위험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별도 계약·보험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권고 — 1단계로 시작합니다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화면은 3단계까지 설계하되 기본값은 「권고만」입니다. 모드 변경은 시스템관리자 전용입니다.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오작동·미작동 시 책임 범위는 착수 전에 법무·계약으로 확정해야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알림 3계층과 재난문자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8절 — 성격이 다른 세 가지를 분리했습니다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1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468880"/>
                <a:gridCol w="2194560"/>
                <a:gridCol w="1554480"/>
                <a:gridCol w="1856231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수단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내부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담당 부서·상황실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문자·알림톡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기관 통보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112·119·재난상황실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API·유선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정정 가능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주민 경보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CBS 재난문자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S-12·S-50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3986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S-12 재난문자 발송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352544"/>
            <a:ext cx="4846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등급  ○위급재난  ⦿긴급재난  ○안전안내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대상 지역  동구 초량동 일대 (기지국 기준)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문안  [동구] 초량지하차도 침수로 전면 통제…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26694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90자 이내 · [요청서 생성] [클립보드 복사]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79476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8544" y="39867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3F"/>
                </a:solidFill>
                <a:latin typeface="맑은 고딕"/>
                <a:ea typeface="맑은 고딕"/>
              </a:rPr>
              <a:t>직접 송출하지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4334256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CBS는 지자체 권한이며 행안부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시스템으로 발송됩니다.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우리는 요청서 문안까지만 만들어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넘깁니다 — 이 문구를 화면에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고정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그 밖의 신규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S-34 · S-43 · S-61 · S-60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S-34 인파 혼잡도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5단계 — 여유 / 보통 / 약간 붐빔 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붐빔 / 매우 붐빔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최근 12시간 이력 + 향후 12시간 예측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⚠ 예측 모델은 아직 없습니다.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 데이터 6개월 이상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S-43 시민 제보 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시민·순찰원이 스마트폰으로 제보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담당자 확인 → 보수 요청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제보 사진이 그대로 학습 데이터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데이터 3회 실패의 우회 경로.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운영하며 부산 데이터를 스스로 축적.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S-61 AI 모델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모델별 탐지 건수·오탐률·상태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4.9% / 인파 2.6% / 노면 개발중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재학습 데이터 내보내기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오탐률을 계속 보지 않으면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성능 저하를 놓칩니다.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S-60 통계·성과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기간별 탐지 건수 · 대응 소요시간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등급 분포 · 조치 완료율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지자체 연말 성과 보고용.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숫자가 다음 해 예산 근거가 되어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재계약에 유리합니다.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v4.2 신규 — CCTV 통합 관리와 상시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S-80 · S-81 · S-30 — 세 탐지서비스가 CCTV를 공유합니다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CCTV 관리 — 3단계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CCTV 등록 — 지점이 존재한다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탐지서비스 지정 — 이 서비스가 쓴다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상시 탐지 — 요청 없이도 계속 본다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②만 켜면 「선택 탐지」입니다.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관제요원이 지점을 골라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도메인별 상시 탐지 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연속 (약 5 fps)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지점당 5초 표본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지점당 15분 순회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검출 비용이 달라 같은 주기로 돌릴 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없습니다. 켠 지점 수만큼 CPU를 씁니다.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S-81 ROI — 도메인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도로 ROI (필수) · 저지대 · 차선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침입 금지 구역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노면 분석 구간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같은 카메라라도 서비스마다 보는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영역이 다릅니다.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S-30 인파 CCTV 선택 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 선택 → 30초 관측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인원·밀집도·배회·침입 + 스냅샷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전 지점 상시 분석은 CPU가 감당하지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못해 「고를 때만」 돌립니다.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위험등급은 관측 구간의 최댓값입니다.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공통 사항과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반응형 · 접근성 · 망분리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반응형 3등급제와 웹 접근성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9-2 / 9-3절 — 전면 반응형은 채택하지 않습니다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77724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 데스크톱 고정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유동 레이아웃만 · 반응형 불필요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B 모바일 필수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로그인 · 이벤트상세 · 시민제보 · 알림승인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 태블릿까지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 · 통계 · 이력류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66160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유동 레이아웃(고정 px 금지)은 전 34화면 필수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A군: 3교대 상황실은 고정 자리·고정 장비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ROI 설정은 정밀 좌표 클릭 — 터치 불가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⚠ 시설물 제어는 모바일 차단이 안전 요건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QA 조합 136 → 60가지로 감소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2512" y="1645920"/>
          <a:ext cx="51206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접근성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색상만으로 정보 전달 금지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(위험등급)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정보의 텍스트 대체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키보드만으로 조작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(모달)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대체 텍스트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명도 대비 · 초점 표시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82512" y="41148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8544" y="4297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반응형은 접근성과 맞물립니다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4626864"/>
            <a:ext cx="46634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확대 시 가로 스크롤 없이 재배치되어야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하는 기준이 있어, 반응형으로 만들면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접근성 대응 비용이 줄어듭니다.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⚠ 인증 요구 여부는 발주 사양서 확인 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망분리와 개인정보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9-4 / 9-5절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5720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재생 라이브러리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CDN — 폐쇄망에서 영상 안 나옴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로컬 번들 (난이도 하)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배경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지도 서비스 차단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GIS 연계 1순위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API (KMA·SOLAPI)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통신 차단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방식 재설계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918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⚠ 망분리 여부가 이 세 가지를 모두 좌우합니다 — 가장 먼저 확인할 인프라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49039"/>
          <a:ext cx="10817352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65760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쟁점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배회 탐지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개인 행동 추적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PIA 대상 여부 확인 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성별·연령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민감정보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넣지 않기를 권고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시민 제보 사진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사람·차량번호 포함 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접수 시 자동 마스킹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 위치 추적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직원 위치정보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1차 범위 제외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71500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8887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93A3F"/>
                </a:solidFill>
                <a:latin typeface="맑은 고딕"/>
                <a:ea typeface="맑은 고딕"/>
              </a:rPr>
              <a:t>서울시의 성별·연령 추정은 통신사 데이터 기반이고 우리는 CCTV 영상 분석입니다 — 쟁점의 크기가 다릅니다.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구현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10절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권한 매트릭스 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026664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DB 스키마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39512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로그인·인증 가드 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52360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사용자·감사 로그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65208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7544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이벤트 모델·상세 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3816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통합 상황판 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026664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알림 승인·이력 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239512" y="2798064"/>
            <a:ext cx="329184" cy="32918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시설물 제어(권고) 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52360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설정 화면군 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7192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65208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시민 제보 접수 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3816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모델 운영·통계 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026664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239512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1848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인수인계·CBS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344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452360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4696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외부 연계 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37192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665208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544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8920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1832" y="50657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8CFF"/>
                </a:solidFill>
                <a:latin typeface="맑은 고딕"/>
                <a:ea typeface="맑은 고딕"/>
              </a:rPr>
              <a:t>①~⑪ 완료 (2026-08-08)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제품 기반이 채워졌습니다. 285개 테스트 통과.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2512" y="48920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638544" y="506577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A5D00"/>
                </a:solidFill>
                <a:latin typeface="맑은 고딕"/>
                <a:ea typeface="맑은 고딕"/>
              </a:rPr>
              <a:t>⑭ 외부 연계는 착수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53583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연계 규격을 하나도 확보하지 못했습니다.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v4.2 추가 — CCTV 통합 관리(S-80·81) · 3개 도메인 상시 탐지 · 인파 선택 탐지(S-30)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확인이 필요한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1·2번은 제품 범위 자체가 걸린 사안입니다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지하차도 차단시설 연동 규격·제어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도로관리청 / 제조사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8251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제어 오작동 시 책임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법무 /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039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스마트도시 통합플랫폼 연계 규격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국토부 / 지자체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8251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CBS 연계 가능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행안부 / 재난부서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8251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개인정보 영향평가 대상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개인정보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039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251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039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8251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웹 접근성(WA) 인증 요구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5039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지자체 SSO 연계 여부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정보통신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8251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상표 정식 조회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특허청 키프리스 42류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미해결 과제 — 정직한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설계서 12절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AI 실환경 성능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인파는 아직 모의(mock) 데이터,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노면은 부산 CCTV에서 탐지 0건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8576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도로 학습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해외 공개데이터 3회 실패.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S-43(현장 제보)이 유일한 현실적 경로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3608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AGPL 라이선스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침수는 BSD 전환 완료.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노면·마스킹은 여전히 Ultralytics(AGPL)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운영 보안·개인정보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HTTPS 미적용, 파기 정책 미구현,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차량번호판 마스킹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8576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외부 연계 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통합플랫폼·112·119·CBS·차단시설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— 규격을 하나도 확보하지 못했습니다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화면 설계서 v4.2  ·  2026-08-08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
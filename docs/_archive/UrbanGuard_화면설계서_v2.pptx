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645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F8CFF"/>
                </a:solidFill>
                <a:latin typeface="맑은 고딕"/>
                <a:ea typeface="맑은 고딕"/>
              </a:rPr>
              <a:t>앤시정보기술(주)  ·  New Communication Infotech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084831"/>
            <a:ext cx="86868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600" b="1" i="0">
                <a:solidFill>
                  <a:srgbClr val="FFFFFF"/>
                </a:solidFill>
                <a:latin typeface="맑은 고딕"/>
                <a:ea typeface="맑은 고딕"/>
              </a:rPr>
              <a:t>UrbanGuard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182112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FFFFFF"/>
                </a:solidFill>
                <a:latin typeface="맑은 고딕"/>
                <a:ea typeface="맑은 고딕"/>
              </a:rPr>
              <a:t>통합 도시안전 관제 솔루션 — 화면 설계서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730752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9AA8BE"/>
                </a:solidFill>
                <a:latin typeface="맑은 고딕"/>
                <a:ea typeface="맑은 고딕"/>
              </a:rPr>
              <a:t>타 관제 솔루션·국가 표준과 비교하여 재설계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4434840"/>
            <a:ext cx="2395728" cy="768096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33271" y="4572000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4F8CFF"/>
                </a:solidFill>
                <a:latin typeface="맑은 고딕"/>
                <a:ea typeface="맑은 고딕"/>
              </a:rPr>
              <a:t>국토부 통합플랫폼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4846320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9AA8BE"/>
                </a:solidFill>
                <a:latin typeface="맑은 고딕"/>
                <a:ea typeface="맑은 고딕"/>
              </a:rPr>
              <a:t>5대 연계서비스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4434840"/>
            <a:ext cx="2395728" cy="768096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639312" y="4572000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4F8CFF"/>
                </a:solidFill>
                <a:latin typeface="맑은 고딕"/>
                <a:ea typeface="맑은 고딕"/>
              </a:rPr>
              <a:t>EOC / COP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4846320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9AA8BE"/>
                </a:solidFill>
                <a:latin typeface="맑은 고딕"/>
                <a:ea typeface="맑은 고딕"/>
              </a:rPr>
              <a:t>인지부하 최소화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4434840"/>
            <a:ext cx="2395728" cy="768096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45352" y="4572000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4F8CFF"/>
                </a:solidFill>
                <a:latin typeface="맑은 고딕"/>
                <a:ea typeface="맑은 고딕"/>
              </a:rPr>
              <a:t>Esri Dashboards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5352" y="4846320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9AA8BE"/>
                </a:solidFill>
                <a:latin typeface="맑은 고딕"/>
                <a:ea typeface="맑은 고딕"/>
              </a:rPr>
              <a:t>지도 중심 구성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4434840"/>
            <a:ext cx="2395728" cy="768096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851392" y="4572000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4F8CFF"/>
                </a:solidFill>
                <a:latin typeface="맑은 고딕"/>
                <a:ea typeface="맑은 고딕"/>
              </a:rPr>
              <a:t>지자체 관제센터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1392" y="4846320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9AA8BE"/>
                </a:solidFill>
                <a:latin typeface="맑은 고딕"/>
                <a:ea typeface="맑은 고딕"/>
              </a:rPr>
              <a:t>3교대 운영 실태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60533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9AA8BE"/>
                </a:solidFill>
                <a:latin typeface="맑은 고딕"/>
                <a:ea typeface="맑은 고딕"/>
              </a:rPr>
              <a:t>2026-08-07  |  전략기획부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61E2E"/>
                </a:solidFill>
                <a:latin typeface="맑은 고딕"/>
                <a:ea typeface="맑은 고딕"/>
              </a:rPr>
              <a:t>v1 → v2 — 구조적 누락 4가지를 발견했습니다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67690"/>
                </a:solidFill>
                <a:latin typeface="맑은 고딕"/>
                <a:ea typeface="맑은 고딕"/>
              </a:rPr>
              <a:t>타 솔루션 비교 결과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91640"/>
          <a:ext cx="10817352" cy="26791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48640"/>
                <a:gridCol w="2834640"/>
                <a:gridCol w="3931920"/>
                <a:gridCol w="3502152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</a:t>
                      </a:r>
                    </a:p>
                  </a:txBody>
                  <a:tcPr marL="82296" marR="54864" marT="27432" marB="27432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v1의 문제</a:t>
                      </a:r>
                    </a:p>
                  </a:txBody>
                  <a:tcPr marL="82296" marR="54864" marT="27432" marB="27432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v2 조치</a:t>
                      </a:r>
                    </a:p>
                  </a:txBody>
                  <a:tcPr marL="82296" marR="54864" marT="27432" marB="27432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근거</a:t>
                      </a:r>
                    </a:p>
                  </a:txBody>
                  <a:tcPr marL="82296" marR="54864" marT="27432" marB="27432" anchor="ctr">
                    <a:solidFill>
                      <a:srgbClr val="1B223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지도가 없다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상황판을 지도 중심으로 재구성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관제 대시보드 표준 구성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도메인 중심 구조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이벤트 중심으로 전환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통합플랫폼 「단일 화면 처리」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외부 연계 개념 부재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연계 화면 신설·112/119 통보 추가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스마트도시 5대 연계서비스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교대 근무 미고려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교대 인수인계 화면 신설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관제센터 3교대 24시간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85800" y="4892040"/>
            <a:ext cx="10817352" cy="960120"/>
          </a:xfrm>
          <a:prstGeom prst="roundRect">
            <a:avLst>
              <a:gd name="adj" fmla="val 6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50840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8A5D00"/>
                </a:solidFill>
                <a:latin typeface="맑은 고딕"/>
                <a:ea typeface="맑은 고딕"/>
              </a:rPr>
              <a:t>부수 수정 — 화면 수 표기 오류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413248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61E2E"/>
                </a:solidFill>
                <a:latin typeface="맑은 고딕"/>
                <a:ea typeface="맑은 고딕"/>
              </a:rPr>
              <a:t>v1 「총 20개」는 계산 오류였습니다. 실제 23개이며, v2 신규 4개를 더해 27개입니다.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67690"/>
                </a:solidFill>
                <a:latin typeface="맑은 고딕"/>
                <a:ea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61E2E"/>
                </a:solidFill>
                <a:latin typeface="맑은 고딕"/>
                <a:ea typeface="맑은 고딕"/>
              </a:rPr>
              <a:t>비교 대상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67690"/>
                </a:solidFill>
                <a:latin typeface="맑은 고딕"/>
                <a:ea typeface="맑은 고딕"/>
              </a:rPr>
              <a:t>설계서 1절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285232" cy="201168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23544" y="1865376"/>
            <a:ext cx="310896" cy="310896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1883664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161E2E"/>
                </a:solidFill>
                <a:latin typeface="맑은 고딕"/>
                <a:ea typeface="맑은 고딕"/>
              </a:rPr>
              <a:t>국토교통부 스마트도시 통합플랫폼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340864"/>
            <a:ext cx="479145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667690"/>
                </a:solidFill>
                <a:latin typeface="맑은 고딕"/>
                <a:ea typeface="맑은 고딕"/>
              </a:rPr>
              <a:t>2015년부터 지자체 보급 · 26종 이벤트 처리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667690"/>
                </a:solidFill>
                <a:latin typeface="맑은 고딕"/>
                <a:ea typeface="맑은 고딕"/>
              </a:rPr>
              <a:t>5대 연계서비스 — 112 긴급영상 / 112 출동 / 119 출동 /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667690"/>
                </a:solidFill>
                <a:latin typeface="맑은 고딕"/>
                <a:ea typeface="맑은 고딕"/>
              </a:rPr>
              <a:t>긴급재난 / 사회적약자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667690"/>
                </a:solidFill>
                <a:latin typeface="맑은 고딕"/>
                <a:ea typeface="맑은 고딕"/>
              </a:rPr>
              <a:t>설계 사상: 「단일 사용자 화면에서 융복합 처리」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85232" cy="201168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6455664" y="1865376"/>
            <a:ext cx="310896" cy="310896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6288" y="1883664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161E2E"/>
                </a:solidFill>
                <a:latin typeface="맑은 고딕"/>
                <a:ea typeface="맑은 고딕"/>
              </a:rPr>
              <a:t>EOC · COP 설계 원칙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340864"/>
            <a:ext cx="479145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667690"/>
                </a:solidFill>
                <a:latin typeface="맑은 고딕"/>
                <a:ea typeface="맑은 고딕"/>
              </a:rPr>
              <a:t>COP는 최소한으로 유지 — 비필수 지표는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667690"/>
                </a:solidFill>
                <a:latin typeface="맑은 고딕"/>
                <a:ea typeface="맑은 고딕"/>
              </a:rPr>
              <a:t>피로도를 올리고 반응시간을 늦춘다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667690"/>
                </a:solidFill>
                <a:latin typeface="맑은 고딕"/>
                <a:ea typeface="맑은 고딕"/>
              </a:rPr>
              <a:t>인지 부하 감소가 제어실 설계의 최우선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667690"/>
                </a:solidFill>
                <a:latin typeface="맑은 고딕"/>
                <a:ea typeface="맑은 고딕"/>
              </a:rPr>
              <a:t>모두가 같은 화면을 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58768"/>
            <a:ext cx="5285232" cy="201168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23544" y="4078224"/>
            <a:ext cx="310896" cy="310896"/>
          </a:xfrm>
          <a:prstGeom prst="ellipse">
            <a:avLst/>
          </a:prstGeom>
          <a:solidFill>
            <a:srgbClr val="C89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4096511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161E2E"/>
                </a:solidFill>
                <a:latin typeface="맑은 고딕"/>
                <a:ea typeface="맑은 고딕"/>
              </a:rPr>
              <a:t>Esri ArcGIS Dashboards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4553712"/>
            <a:ext cx="479145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667690"/>
                </a:solidFill>
                <a:latin typeface="맑은 고딕"/>
                <a:ea typeface="맑은 고딕"/>
              </a:rPr>
              <a:t>구성 문법: 맵 + 지표 + 리스트 + 차트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667690"/>
                </a:solidFill>
                <a:latin typeface="맑은 고딕"/>
                <a:ea typeface="맑은 고딕"/>
              </a:rPr>
              <a:t>행/열 레이아웃, 기기별 최적화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667690"/>
                </a:solidFill>
                <a:latin typeface="맑은 고딕"/>
                <a:ea typeface="맑은 고딕"/>
              </a:rPr>
              <a:t>지표에는 참조값으로 맥락을 부여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58768"/>
            <a:ext cx="5285232" cy="201168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455664" y="4078224"/>
            <a:ext cx="310896" cy="310896"/>
          </a:xfrm>
          <a:prstGeom prst="ellipse">
            <a:avLst/>
          </a:prstGeom>
          <a:solidFill>
            <a:srgbClr val="E0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4096511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161E2E"/>
                </a:solidFill>
                <a:latin typeface="맑은 고딕"/>
                <a:ea typeface="맑은 고딕"/>
              </a:rPr>
              <a:t>지자체 CCTV 통합관제센터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553712"/>
            <a:ext cx="479145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667690"/>
                </a:solidFill>
                <a:latin typeface="맑은 고딕"/>
                <a:ea typeface="맑은 고딕"/>
              </a:rPr>
              <a:t>3교대 24시간 운영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667690"/>
                </a:solidFill>
                <a:latin typeface="맑은 고딕"/>
                <a:ea typeface="맑은 고딕"/>
              </a:rPr>
              <a:t>발견 즉시 112상황실·재난상황실 통보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667690"/>
                </a:solidFill>
                <a:latin typeface="맑은 고딕"/>
                <a:ea typeface="맑은 고딕"/>
              </a:rPr>
              <a:t>작업 흐름: 발견 → 확인 → 통보 → 기록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67690"/>
                </a:solidFill>
                <a:latin typeface="맑은 고딕"/>
                <a:ea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61E2E"/>
                </a:solidFill>
                <a:latin typeface="맑은 고딕"/>
                <a:ea typeface="맑은 고딕"/>
              </a:rPr>
              <a:t>v1 설계의 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67690"/>
                </a:solidFill>
                <a:latin typeface="맑은 고딕"/>
                <a:ea typeface="맑은 고딕"/>
              </a:rPr>
              <a:t>설계서 2절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27632"/>
            <a:ext cx="10817352" cy="987552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32688" y="1901952"/>
            <a:ext cx="438912" cy="438912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179222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61E2E"/>
                </a:solidFill>
                <a:latin typeface="맑은 고딕"/>
                <a:ea typeface="맑은 고딕"/>
              </a:rPr>
              <a:t>지도가 없다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2121408"/>
            <a:ext cx="96012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667690"/>
                </a:solidFill>
                <a:latin typeface="맑은 고딕"/>
                <a:ea typeface="맑은 고딕"/>
              </a:rPr>
              <a:t>configs/blocks.json에 위경도가 이미 있는데 화면에 지도가 없습니다.</a:t>
            </a:r>
          </a:p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667690"/>
                </a:solidFill>
                <a:latin typeface="맑은 고딕"/>
                <a:ea typeface="맑은 고딕"/>
              </a:rPr>
              <a:t>지점이 7개에서 수십 개로 늘면 목록만으로는 공간 파악이 불가능합니다.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761488"/>
            <a:ext cx="10817352" cy="987552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32688" y="3035808"/>
            <a:ext cx="438912" cy="438912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92608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61E2E"/>
                </a:solidFill>
                <a:latin typeface="맑은 고딕"/>
                <a:ea typeface="맑은 고딕"/>
              </a:rPr>
              <a:t>도메인 중심 구조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3255264"/>
            <a:ext cx="96012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667690"/>
                </a:solidFill>
                <a:latin typeface="맑은 고딕"/>
                <a:ea typeface="맑은 고딕"/>
              </a:rPr>
              <a:t>관제요원은 도메인별로 근무하지 않습니다. 한 사람이 셋을 동시에 봅니다.</a:t>
            </a:r>
          </a:p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667690"/>
                </a:solidFill>
                <a:latin typeface="맑은 고딕"/>
                <a:ea typeface="맑은 고딕"/>
              </a:rPr>
              <a:t>도메인별 화면 분리는 개발 조직의 구조를 사용자에게 떠넘긴 것입니다.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95344"/>
            <a:ext cx="10817352" cy="98755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32688" y="4169663"/>
            <a:ext cx="438912" cy="438912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4059935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61E2E"/>
                </a:solidFill>
                <a:latin typeface="맑은 고딕"/>
                <a:ea typeface="맑은 고딕"/>
              </a:rPr>
              <a:t>외부 연계가 없다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4389120"/>
            <a:ext cx="96012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667690"/>
                </a:solidFill>
                <a:latin typeface="맑은 고딕"/>
                <a:ea typeface="맑은 고딕"/>
              </a:rPr>
              <a:t>v1의 통보 대상은 담당부서뿐입니다. 실제 관제센터는 112·119·재난상황실로</a:t>
            </a:r>
          </a:p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667690"/>
                </a:solidFill>
                <a:latin typeface="맑은 고딕"/>
                <a:ea typeface="맑은 고딕"/>
              </a:rPr>
              <a:t>통보합니다. 이 경로가 없으면 실제 운영에 쓸 수 없습니다.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029200"/>
            <a:ext cx="10817352" cy="98755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32688" y="5303520"/>
            <a:ext cx="438912" cy="438912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519379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61E2E"/>
                </a:solidFill>
                <a:latin typeface="맑은 고딕"/>
                <a:ea typeface="맑은 고딕"/>
              </a:rPr>
              <a:t>교대 근무 미고려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5522976"/>
            <a:ext cx="96012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667690"/>
                </a:solidFill>
                <a:latin typeface="맑은 고딕"/>
                <a:ea typeface="맑은 고딕"/>
              </a:rPr>
              <a:t>3교대인데 인수인계 화면이 없습니다. 교대 시점에 무엇을 넘기는지가</a:t>
            </a:r>
          </a:p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667690"/>
                </a:solidFill>
                <a:latin typeface="맑은 고딕"/>
                <a:ea typeface="맑은 고딕"/>
              </a:rPr>
              <a:t>남지 않으면 그 순간이 대응 공백이 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67690"/>
                </a:solidFill>
                <a:latin typeface="맑은 고딕"/>
                <a:ea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651760"/>
            <a:ext cx="27432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4F8C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3401568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맑은 고딕"/>
                <a:ea typeface="맑은 고딕"/>
              </a:rPr>
              <a:t>개정 정보구조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114800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9AA8BE"/>
                </a:solidFill>
                <a:latin typeface="맑은 고딕"/>
                <a:ea typeface="맑은 고딕"/>
              </a:rPr>
              <a:t>도메인 중심에서 이벤트 중심으로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9AA8BE"/>
                </a:solidFill>
                <a:latin typeface="맑은 고딕"/>
                <a:ea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61E2E"/>
                </a:solidFill>
                <a:latin typeface="맑은 고딕"/>
                <a:ea typeface="맑은 고딕"/>
              </a:rPr>
              <a:t>개정 정보구조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67690"/>
                </a:solidFill>
                <a:latin typeface="맑은 고딕"/>
                <a:ea typeface="맑은 고딕"/>
              </a:rPr>
              <a:t>설계서 3절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120640" cy="393192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0120" y="1847088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667690"/>
                </a:solidFill>
                <a:latin typeface="맑은 고딕"/>
                <a:ea typeface="맑은 고딕"/>
              </a:rPr>
              <a:t>v1 — 도메인 중심</a:t>
            </a:r>
          </a:p>
        </p:txBody>
      </p:sp>
      <p:sp>
        <p:nvSpPr>
          <p:cNvPr id="6" name="Oval 5"/>
          <p:cNvSpPr/>
          <p:nvPr/>
        </p:nvSpPr>
        <p:spPr>
          <a:xfrm>
            <a:off x="960120" y="2432304"/>
            <a:ext cx="164592" cy="164592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39572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161E2E"/>
                </a:solidFill>
                <a:latin typeface="맑은 고딕"/>
                <a:ea typeface="맑은 고딕"/>
              </a:rPr>
              <a:t>침수·교통위험</a:t>
            </a:r>
          </a:p>
        </p:txBody>
      </p:sp>
      <p:sp>
        <p:nvSpPr>
          <p:cNvPr id="8" name="Oval 7"/>
          <p:cNvSpPr/>
          <p:nvPr/>
        </p:nvSpPr>
        <p:spPr>
          <a:xfrm>
            <a:off x="960120" y="2962656"/>
            <a:ext cx="164592" cy="164592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92608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161E2E"/>
                </a:solidFill>
                <a:latin typeface="맑은 고딕"/>
                <a:ea typeface="맑은 고딕"/>
              </a:rPr>
              <a:t>인파관리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3493008"/>
            <a:ext cx="164592" cy="164592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45643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161E2E"/>
                </a:solidFill>
                <a:latin typeface="맑은 고딕"/>
                <a:ea typeface="맑은 고딕"/>
              </a:rPr>
              <a:t>도로 노면 관리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" y="4023360"/>
            <a:ext cx="164592" cy="164592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986783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161E2E"/>
                </a:solidFill>
                <a:latin typeface="맑은 고딕"/>
                <a:ea typeface="맑은 고딕"/>
              </a:rPr>
              <a:t>알림 (별도 메뉴)</a:t>
            </a:r>
          </a:p>
        </p:txBody>
      </p:sp>
      <p:sp>
        <p:nvSpPr>
          <p:cNvPr id="14" name="Oval 13"/>
          <p:cNvSpPr/>
          <p:nvPr/>
        </p:nvSpPr>
        <p:spPr>
          <a:xfrm>
            <a:off x="960120" y="4553712"/>
            <a:ext cx="164592" cy="164592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517136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161E2E"/>
                </a:solidFill>
                <a:latin typeface="맑은 고딕"/>
                <a:ea typeface="맑은 고딕"/>
              </a:rPr>
              <a:t>설정 · 관리자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120640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D93A3F"/>
                </a:solidFill>
                <a:latin typeface="맑은 고딕"/>
                <a:ea typeface="맑은 고딕"/>
              </a:rPr>
              <a:t>관제요원이 화면을 옮겨 다녀야 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82512" y="1645920"/>
            <a:ext cx="5120640" cy="3931920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656832" y="1847088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4F8CFF"/>
                </a:solidFill>
                <a:latin typeface="맑은 고딕"/>
                <a:ea typeface="맑은 고딕"/>
              </a:rPr>
              <a:t>v2 — 이벤트 중심</a:t>
            </a:r>
          </a:p>
        </p:txBody>
      </p:sp>
      <p:sp>
        <p:nvSpPr>
          <p:cNvPr id="19" name="Oval 18"/>
          <p:cNvSpPr/>
          <p:nvPr/>
        </p:nvSpPr>
        <p:spPr>
          <a:xfrm>
            <a:off x="6656832" y="2414016"/>
            <a:ext cx="164592" cy="164592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6872" y="2377440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61E2E"/>
                </a:solidFill>
                <a:latin typeface="맑은 고딕"/>
                <a:ea typeface="맑은 고딕"/>
              </a:rPr>
              <a:t>통합 상황판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395728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67690"/>
                </a:solidFill>
                <a:latin typeface="맑은 고딕"/>
                <a:ea typeface="맑은 고딕"/>
              </a:rPr>
              <a:t>지도 중심 COP · 상시 화면</a:t>
            </a:r>
          </a:p>
        </p:txBody>
      </p:sp>
      <p:sp>
        <p:nvSpPr>
          <p:cNvPr id="22" name="Oval 21"/>
          <p:cNvSpPr/>
          <p:nvPr/>
        </p:nvSpPr>
        <p:spPr>
          <a:xfrm>
            <a:off x="6656832" y="2944368"/>
            <a:ext cx="164592" cy="164592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76872" y="2907792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61E2E"/>
                </a:solidFill>
                <a:latin typeface="맑은 고딕"/>
                <a:ea typeface="맑은 고딕"/>
              </a:rPr>
              <a:t>이벤트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2926080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67690"/>
                </a:solidFill>
                <a:latin typeface="맑은 고딕"/>
                <a:ea typeface="맑은 고딕"/>
              </a:rPr>
              <a:t>목록 · 상세 · 교대 인수인계</a:t>
            </a:r>
          </a:p>
        </p:txBody>
      </p:sp>
      <p:sp>
        <p:nvSpPr>
          <p:cNvPr id="25" name="Oval 24"/>
          <p:cNvSpPr/>
          <p:nvPr/>
        </p:nvSpPr>
        <p:spPr>
          <a:xfrm>
            <a:off x="6656832" y="3474720"/>
            <a:ext cx="164592" cy="164592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76872" y="3438144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61E2E"/>
                </a:solidFill>
                <a:latin typeface="맑은 고딕"/>
                <a:ea typeface="맑은 고딕"/>
              </a:rPr>
              <a:t>도메인별 상세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3456432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67690"/>
                </a:solidFill>
                <a:latin typeface="맑은 고딕"/>
                <a:ea typeface="맑은 고딕"/>
              </a:rPr>
              <a:t>심층 분석용 (2급으로 하향)</a:t>
            </a:r>
          </a:p>
        </p:txBody>
      </p:sp>
      <p:sp>
        <p:nvSpPr>
          <p:cNvPr id="28" name="Oval 27"/>
          <p:cNvSpPr/>
          <p:nvPr/>
        </p:nvSpPr>
        <p:spPr>
          <a:xfrm>
            <a:off x="6656832" y="4005072"/>
            <a:ext cx="164592" cy="164592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76872" y="3968496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61E2E"/>
                </a:solidFill>
                <a:latin typeface="맑은 고딕"/>
                <a:ea typeface="맑은 고딕"/>
              </a:rPr>
              <a:t>알림·통보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3986783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67690"/>
                </a:solidFill>
                <a:latin typeface="맑은 고딕"/>
                <a:ea typeface="맑은 고딕"/>
              </a:rPr>
              <a:t>승인 대기함 · 통보 이력</a:t>
            </a:r>
          </a:p>
        </p:txBody>
      </p:sp>
      <p:sp>
        <p:nvSpPr>
          <p:cNvPr id="31" name="Oval 30"/>
          <p:cNvSpPr/>
          <p:nvPr/>
        </p:nvSpPr>
        <p:spPr>
          <a:xfrm>
            <a:off x="6656832" y="4535424"/>
            <a:ext cx="164592" cy="164592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76872" y="4498848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61E2E"/>
                </a:solidFill>
                <a:latin typeface="맑은 고딕"/>
                <a:ea typeface="맑은 고딕"/>
              </a:rPr>
              <a:t>연계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4517136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67690"/>
                </a:solidFill>
                <a:latin typeface="맑은 고딕"/>
                <a:ea typeface="맑은 고딕"/>
              </a:rPr>
              <a:t>통합플랫폼 · 112 · 119 · 재난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56832" y="5120640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E9E52"/>
                </a:solidFill>
                <a:latin typeface="맑은 고딕"/>
                <a:ea typeface="맑은 고딕"/>
              </a:rPr>
              <a:t>발견 → 통보까지 한 화면에서 완결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67690"/>
                </a:solidFill>
                <a:latin typeface="맑은 고딕"/>
                <a:ea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651760"/>
            <a:ext cx="27432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4F8C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3401568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맑은 고딕"/>
                <a:ea typeface="맑은 고딕"/>
              </a:rPr>
              <a:t>통합 상황판 재설계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114800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9AA8BE"/>
                </a:solidFill>
                <a:latin typeface="맑은 고딕"/>
                <a:ea typeface="맑은 고딕"/>
              </a:rPr>
              <a:t>S-01 — 관제요원의 상시 화면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9AA8BE"/>
                </a:solidFill>
                <a:latin typeface="맑은 고딕"/>
                <a:ea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61E2E"/>
                </a:solidFill>
                <a:latin typeface="맑은 고딕"/>
                <a:ea typeface="맑은 고딕"/>
              </a:rPr>
              <a:t>S-01 통합 상황판 — 재설계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67690"/>
                </a:solidFill>
                <a:latin typeface="맑은 고딕"/>
                <a:ea typeface="맑은 고딕"/>
              </a:rPr>
              <a:t>관제 PC 1920×1080 기준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10817352" cy="4160520"/>
          </a:xfrm>
          <a:prstGeom prst="roundRect">
            <a:avLst>
              <a:gd name="adj" fmla="val 6000"/>
            </a:avLst>
          </a:prstGeom>
          <a:solidFill>
            <a:srgbClr val="FAFBFD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813816" y="1719072"/>
            <a:ext cx="10561320" cy="457200"/>
          </a:xfrm>
          <a:prstGeom prst="roundRect">
            <a:avLst>
              <a:gd name="adj" fmla="val 6000"/>
            </a:avLst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6696" y="1847088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4F8CFF"/>
                </a:solidFill>
                <a:latin typeface="맑은 고딕"/>
                <a:ea typeface="맑은 고딕"/>
              </a:rPr>
              <a:t>① 상태 스트립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0" y="1847088"/>
            <a:ext cx="7040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미처리 3    처리중 2    강수 12mm/h    CCTV 7/7    연계 4/4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" y="2276856"/>
            <a:ext cx="57607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78408" y="2404872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667690"/>
                </a:solidFill>
                <a:latin typeface="맑은 고딕"/>
                <a:ea typeface="맑은 고딕"/>
              </a:rPr>
              <a:t>② 지도 (주 영역)</a:t>
            </a:r>
          </a:p>
        </p:txBody>
      </p:sp>
      <p:sp>
        <p:nvSpPr>
          <p:cNvPr id="10" name="Oval 9"/>
          <p:cNvSpPr/>
          <p:nvPr/>
        </p:nvSpPr>
        <p:spPr>
          <a:xfrm>
            <a:off x="2057400" y="2834640"/>
            <a:ext cx="155448" cy="155448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8568" y="281635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161E2E"/>
                </a:solidFill>
                <a:latin typeface="맑은 고딕"/>
                <a:ea typeface="맑은 고딕"/>
              </a:rPr>
              <a:t>범내골</a:t>
            </a:r>
          </a:p>
        </p:txBody>
      </p:sp>
      <p:sp>
        <p:nvSpPr>
          <p:cNvPr id="12" name="Oval 11"/>
          <p:cNvSpPr/>
          <p:nvPr/>
        </p:nvSpPr>
        <p:spPr>
          <a:xfrm>
            <a:off x="3611880" y="2715768"/>
            <a:ext cx="155448" cy="155448"/>
          </a:xfrm>
          <a:prstGeom prst="ellipse">
            <a:avLst/>
          </a:prstGeom>
          <a:solidFill>
            <a:srgbClr val="E0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3048" y="2697479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161E2E"/>
                </a:solidFill>
                <a:latin typeface="맑은 고딕"/>
                <a:ea typeface="맑은 고딕"/>
              </a:rPr>
              <a:t>초량</a:t>
            </a:r>
          </a:p>
        </p:txBody>
      </p:sp>
      <p:sp>
        <p:nvSpPr>
          <p:cNvPr id="14" name="Oval 13"/>
          <p:cNvSpPr/>
          <p:nvPr/>
        </p:nvSpPr>
        <p:spPr>
          <a:xfrm>
            <a:off x="5166360" y="2971800"/>
            <a:ext cx="155448" cy="155448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67528" y="295351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161E2E"/>
                </a:solidFill>
                <a:latin typeface="맑은 고딕"/>
                <a:ea typeface="맑은 고딕"/>
              </a:rPr>
              <a:t>부산역</a:t>
            </a:r>
          </a:p>
        </p:txBody>
      </p:sp>
      <p:sp>
        <p:nvSpPr>
          <p:cNvPr id="16" name="Oval 15"/>
          <p:cNvSpPr/>
          <p:nvPr/>
        </p:nvSpPr>
        <p:spPr>
          <a:xfrm>
            <a:off x="2880360" y="3429000"/>
            <a:ext cx="155448" cy="155448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1528" y="341071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161E2E"/>
                </a:solidFill>
                <a:latin typeface="맑은 고딕"/>
                <a:ea typeface="맑은 고딕"/>
              </a:rPr>
              <a:t>센텀A</a:t>
            </a:r>
          </a:p>
        </p:txBody>
      </p:sp>
      <p:sp>
        <p:nvSpPr>
          <p:cNvPr id="18" name="Oval 17"/>
          <p:cNvSpPr/>
          <p:nvPr/>
        </p:nvSpPr>
        <p:spPr>
          <a:xfrm>
            <a:off x="4709160" y="3657600"/>
            <a:ext cx="155448" cy="155448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0328" y="363931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161E2E"/>
                </a:solidFill>
                <a:latin typeface="맑은 고딕"/>
                <a:ea typeface="맑은 고딕"/>
              </a:rPr>
              <a:t>벡스코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886200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667690"/>
                </a:solidFill>
                <a:latin typeface="맑은 고딕"/>
                <a:ea typeface="맑은 고딕"/>
              </a:rPr>
              <a:t>● 심각/경계   ● 주의   ● 정상        [침수][인파][노면] 필터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39128" y="2276856"/>
            <a:ext cx="450799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903720" y="2404872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667690"/>
                </a:solidFill>
                <a:latin typeface="맑은 고딕"/>
                <a:ea typeface="맑은 고딕"/>
              </a:rPr>
              <a:t>③ 이벤트 큐 (도메인 무관)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85432" y="2660904"/>
            <a:ext cx="4215384" cy="420624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6995160" y="2788920"/>
            <a:ext cx="155448" cy="155448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2715768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61E2E"/>
                </a:solidFill>
                <a:latin typeface="맑은 고딕"/>
                <a:ea typeface="맑은 고딕"/>
              </a:rPr>
              <a:t>범내골 침수 「경계」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2904" y="2898648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667690"/>
                </a:solidFill>
                <a:latin typeface="맑은 고딕"/>
                <a:ea typeface="맑은 고딕"/>
              </a:rPr>
              <a:t>미처리 · 12분 경과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85432" y="3145536"/>
            <a:ext cx="4215384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6995160" y="3273552"/>
            <a:ext cx="155448" cy="155448"/>
          </a:xfrm>
          <a:prstGeom prst="ellipse">
            <a:avLst/>
          </a:prstGeom>
          <a:solidFill>
            <a:srgbClr val="E0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32904" y="3200400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61E2E"/>
                </a:solidFill>
                <a:latin typeface="맑은 고딕"/>
                <a:ea typeface="맑은 고딕"/>
              </a:rPr>
              <a:t>센텀A 인파 배회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2904" y="3383280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667690"/>
                </a:solidFill>
                <a:latin typeface="맑은 고딕"/>
                <a:ea typeface="맑은 고딕"/>
              </a:rPr>
              <a:t>처리중 · 김담당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85432" y="3630168"/>
            <a:ext cx="4215384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6995160" y="3758184"/>
            <a:ext cx="155448" cy="155448"/>
          </a:xfrm>
          <a:prstGeom prst="ellipse">
            <a:avLst/>
          </a:prstGeom>
          <a:solidFill>
            <a:srgbClr val="C89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32904" y="3685032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61E2E"/>
                </a:solidFill>
                <a:latin typeface="맑은 고딕"/>
                <a:ea typeface="맑은 고딕"/>
              </a:rPr>
              <a:t>벡스코 노면 보수요청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32904" y="3867912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667690"/>
                </a:solidFill>
                <a:latin typeface="맑은 고딕"/>
                <a:ea typeface="맑은 고딕"/>
              </a:rPr>
              <a:t>미처리 · 2시간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" y="4270248"/>
            <a:ext cx="105613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78408" y="4398264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61E2E"/>
                </a:solidFill>
                <a:latin typeface="맑은 고딕"/>
                <a:ea typeface="맑은 고딕"/>
              </a:rPr>
              <a:t>④ 선택 이벤트 상세 — 범내골교차로 침수 「경계」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8408" y="4672583"/>
            <a:ext cx="1600200" cy="84124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1069848" y="496519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 i="0">
                <a:solidFill>
                  <a:srgbClr val="667690"/>
                </a:solidFill>
                <a:latin typeface="맑은 고딕"/>
                <a:ea typeface="맑은 고딕"/>
              </a:rPr>
              <a:t>CCTV + ROI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4709160"/>
            <a:ext cx="4206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161E2E"/>
                </a:solidFill>
                <a:latin typeface="맑은 고딕"/>
                <a:ea typeface="맑은 고딕"/>
              </a:rPr>
              <a:t>등급 경계 (평시 대비 ↑2단계)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161E2E"/>
                </a:solidFill>
                <a:latin typeface="맑은 고딕"/>
                <a:ea typeface="맑은 고딕"/>
              </a:rPr>
              <a:t>수위 추정 18cm · 강수 12mm/h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161E2E"/>
                </a:solidFill>
                <a:latin typeface="맑은 고딕"/>
                <a:ea typeface="맑은 고딕"/>
              </a:rPr>
              <a:t>예측 30분 후 「심각」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32320" y="5001768"/>
            <a:ext cx="987552" cy="329184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132320" y="5084064"/>
            <a:ext cx="9875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 i="0">
                <a:solidFill>
                  <a:srgbClr val="161E2E"/>
                </a:solidFill>
                <a:latin typeface="맑은 고딕"/>
                <a:ea typeface="맑은 고딕"/>
              </a:rPr>
              <a:t>현장 확인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93023" y="5001768"/>
            <a:ext cx="987552" cy="329184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193023" y="5084064"/>
            <a:ext cx="9875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 i="0">
                <a:solidFill>
                  <a:srgbClr val="161E2E"/>
                </a:solidFill>
                <a:latin typeface="맑은 고딕"/>
                <a:ea typeface="맑은 고딕"/>
              </a:rPr>
              <a:t>부서 통보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253728" y="5001768"/>
            <a:ext cx="987552" cy="329184"/>
          </a:xfrm>
          <a:prstGeom prst="roundRect">
            <a:avLst>
              <a:gd name="adj" fmla="val 6000"/>
            </a:avLst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9253728" y="5084064"/>
            <a:ext cx="9875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112/119 통보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314432" y="5001768"/>
            <a:ext cx="987552" cy="329184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10314432" y="5084064"/>
            <a:ext cx="9875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 i="0">
                <a:solidFill>
                  <a:srgbClr val="161E2E"/>
                </a:solidFill>
                <a:latin typeface="맑은 고딕"/>
                <a:ea typeface="맑은 고딕"/>
              </a:rPr>
              <a:t>조치 기록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589788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61E2E"/>
                </a:solidFill>
                <a:latin typeface="맑은 고딕"/>
                <a:ea typeface="맑은 고딕"/>
              </a:rPr>
              <a:t>핵심 — 화면 이동 없이 「발견 → 확인 → 통보 → 기록」이 한 호흡에 끝납니다.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67690"/>
                </a:solidFill>
                <a:latin typeface="맑은 고딕"/>
                <a:ea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61E2E"/>
                </a:solidFill>
                <a:latin typeface="맑은 고딕"/>
                <a:ea typeface="맑은 고딕"/>
              </a:rPr>
              <a:t>영역별 설계 근거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67690"/>
                </a:solidFill>
                <a:latin typeface="맑은 고딕"/>
                <a:ea typeface="맑은 고딕"/>
              </a:rPr>
              <a:t>설계서 4-2 / 4-3절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45920"/>
          <a:ext cx="10817352" cy="22311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86000"/>
                <a:gridCol w="853135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영역</a:t>
                      </a:r>
                    </a:p>
                  </a:txBody>
                  <a:tcPr marL="82296" marR="54864" marT="27432" marB="27432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왜 이렇게 두었나</a:t>
                      </a:r>
                    </a:p>
                  </a:txBody>
                  <a:tcPr marL="82296" marR="54864" marT="27432" marB="27432" anchor="ctr">
                    <a:solidFill>
                      <a:srgbClr val="1B223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① 상태 스트립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COP 최소주의. 5개만 둔다 — 늘리는 만큼 반응시간이 느려진다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② 지도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공간 파악은 지도가 압도적으로 빠르다. blocks.json 위경도를 그대로 사용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③ 이벤트 큐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도메인 무관. 경과 시간을 함께 보여 방치를 막는다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④ 이벤트 상세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관제요원 작업 흐름이 한 호흡이므로 통보까지 여기서 끝낸다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4114800"/>
            <a:ext cx="108173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61E2E"/>
                </a:solidFill>
                <a:latin typeface="맑은 고딕"/>
                <a:ea typeface="맑은 고딕"/>
              </a:rPr>
              <a:t>지표에 맥락 부여 — 숫자만 있으면 판단이 안 됩니다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4526280"/>
          <a:ext cx="10817352" cy="14630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86000"/>
                <a:gridCol w="3108960"/>
                <a:gridCol w="5422392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지표</a:t>
                      </a:r>
                    </a:p>
                  </a:txBody>
                  <a:tcPr marL="82296" marR="54864" marT="27432" marB="27432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v1</a:t>
                      </a:r>
                    </a:p>
                  </a:txBody>
                  <a:tcPr marL="82296" marR="54864" marT="27432" marB="27432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v2</a:t>
                      </a:r>
                    </a:p>
                  </a:txBody>
                  <a:tcPr marL="82296" marR="54864" marT="27432" marB="27432" anchor="ctr">
                    <a:solidFill>
                      <a:srgbClr val="1B22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위험등급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경계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경계 (평시 대비 ↑2단계)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강수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12mm/h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12mm/h (주의 기준 20mm/h)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인원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39명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39명 (평시 이 시간대 12명)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21792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D93A3F"/>
                </a:solidFill>
                <a:latin typeface="맑은 고딕"/>
                <a:ea typeface="맑은 고딕"/>
              </a:rPr>
              <a:t>⚠ 평시 기준값은 운영 데이터가 쌓여야 산출됩니다. 시범운영 전에는 「수집 중」으로 표시합니다.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67690"/>
                </a:solidFill>
                <a:latin typeface="맑은 고딕"/>
                <a:ea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61E2E"/>
                </a:solidFill>
                <a:latin typeface="맑은 고딕"/>
                <a:ea typeface="맑은 고딕"/>
              </a:rPr>
              <a:t>반응형 대응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67690"/>
                </a:solidFill>
                <a:latin typeface="맑은 고딕"/>
                <a:ea typeface="맑은 고딕"/>
              </a:rPr>
              <a:t>설계서 4-4절 — 모든 화면 공통 요건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2578608" cy="228600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86968" y="188366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4F8CFF"/>
                </a:solidFill>
                <a:latin typeface="맑은 고딕"/>
                <a:ea typeface="맑은 고딕"/>
              </a:rPr>
              <a:t>1600px+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21284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667690"/>
                </a:solidFill>
                <a:latin typeface="맑은 고딕"/>
                <a:ea typeface="맑은 고딕"/>
              </a:rPr>
              <a:t>관제 PC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615184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61E2E"/>
                </a:solidFill>
                <a:latin typeface="맑은 고딕"/>
                <a:ea typeface="맑은 고딕"/>
              </a:rPr>
              <a:t>4분할 그대로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47288" y="1691640"/>
            <a:ext cx="2578608" cy="228600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648456" y="188366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E9E52"/>
                </a:solidFill>
                <a:latin typeface="맑은 고딕"/>
                <a:ea typeface="맑은 고딕"/>
              </a:rPr>
              <a:t>1200~1600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48456" y="221284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667690"/>
                </a:solidFill>
                <a:latin typeface="맑은 고딕"/>
                <a:ea typeface="맑은 고딕"/>
              </a:rPr>
              <a:t>노트북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8456" y="2615184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61E2E"/>
                </a:solidFill>
                <a:latin typeface="맑은 고딕"/>
                <a:ea typeface="맑은 고딕"/>
              </a:rPr>
              <a:t>지도:큐 = 6:4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61E2E"/>
                </a:solidFill>
                <a:latin typeface="맑은 고딕"/>
                <a:ea typeface="맑은 고딕"/>
              </a:rPr>
              <a:t>상세는 하단 전체 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1691640"/>
            <a:ext cx="2578608" cy="228600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9944" y="188366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C8930B"/>
                </a:solidFill>
                <a:latin typeface="맑은 고딕"/>
                <a:ea typeface="맑은 고딕"/>
              </a:rPr>
              <a:t>~1024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221284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667690"/>
                </a:solidFill>
                <a:latin typeface="맑은 고딕"/>
                <a:ea typeface="맑은 고딕"/>
              </a:rPr>
              <a:t>태블릿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2615184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61E2E"/>
                </a:solidFill>
                <a:latin typeface="맑은 고딕"/>
                <a:ea typeface="맑은 고딕"/>
              </a:rPr>
              <a:t>지도 상단 / 큐 하단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61E2E"/>
                </a:solidFill>
                <a:latin typeface="맑은 고딕"/>
                <a:ea typeface="맑은 고딕"/>
              </a:rPr>
              <a:t>상세는 전체화면 패널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70264" y="1691640"/>
            <a:ext cx="2578608" cy="228600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71432" y="188366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E0762B"/>
                </a:solidFill>
                <a:latin typeface="맑은 고딕"/>
                <a:ea typeface="맑은 고딕"/>
              </a:rPr>
              <a:t>~640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71432" y="221284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667690"/>
                </a:solidFill>
                <a:latin typeface="맑은 고딕"/>
                <a:ea typeface="맑은 고딕"/>
              </a:rPr>
              <a:t>모바일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1432" y="2615184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61E2E"/>
                </a:solidFill>
                <a:latin typeface="맑은 고딕"/>
                <a:ea typeface="맑은 고딕"/>
              </a:rPr>
              <a:t>지도 생략, 큐만 표시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61E2E"/>
                </a:solidFill>
                <a:latin typeface="맑은 고딕"/>
                <a:ea typeface="맑은 고딕"/>
              </a:rPr>
              <a:t>「무엇을 처리하나」에 집중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206240"/>
            <a:ext cx="10817352" cy="914400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60120" y="4389120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4F8CFF"/>
                </a:solidFill>
                <a:latin typeface="맑은 고딕"/>
                <a:ea typeface="맑은 고딕"/>
              </a:rPr>
              <a:t>모바일에서 지도를 빼는 것은 의도적입니다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71830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61E2E"/>
                </a:solidFill>
                <a:latin typeface="맑은 고딕"/>
                <a:ea typeface="맑은 고딕"/>
              </a:rPr>
              <a:t>작은 화면의 지도는 정보량 대비 자리만 차지합니다. 현장에서는 처리할 목록만 보면 됩니다.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394960"/>
            <a:ext cx="108173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667690"/>
                </a:solidFill>
                <a:latin typeface="맑은 고딕"/>
                <a:ea typeface="맑은 고딕"/>
              </a:rPr>
              <a:t>폭이 큰 표·타임라인·차트는 자체 가로 스크롤 컨테이너에 넣어 본문이 가로로 밀리지 않게 합니다.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667690"/>
                </a:solidFill>
                <a:latin typeface="맑은 고딕"/>
                <a:ea typeface="맑은 고딕"/>
              </a:rPr>
              <a:t>반응형은 접근성 요건(확대 시 재배치)과도 맞물려 대응 비용을 줄입니다.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67690"/>
                </a:solidFill>
                <a:latin typeface="맑은 고딕"/>
                <a:ea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651760"/>
            <a:ext cx="27432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4F8C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3401568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맑은 고딕"/>
                <a:ea typeface="맑은 고딕"/>
              </a:rPr>
              <a:t>신규 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114800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9AA8BE"/>
                </a:solidFill>
                <a:latin typeface="맑은 고딕"/>
                <a:ea typeface="맑은 고딕"/>
              </a:rPr>
              <a:t>이벤트 상세 · 교대 인수인계 · 외부 연계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9AA8BE"/>
                </a:solidFill>
                <a:latin typeface="맑은 고딕"/>
                <a:ea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61E2E"/>
                </a:solidFill>
                <a:latin typeface="맑은 고딕"/>
                <a:ea typeface="맑은 고딕"/>
              </a:rPr>
              <a:t>S-02 이벤트 상세·조치 (신규)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67690"/>
                </a:solidFill>
                <a:latin typeface="맑은 고딕"/>
                <a:ea typeface="맑은 고딕"/>
              </a:rPr>
              <a:t>도메인과 무관하게 하나의 사건을 처리하는 단일 화면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27632"/>
            <a:ext cx="6766560" cy="3977639"/>
          </a:xfrm>
          <a:prstGeom prst="roundRect">
            <a:avLst>
              <a:gd name="adj" fmla="val 6000"/>
            </a:avLst>
          </a:prstGeom>
          <a:solidFill>
            <a:srgbClr val="FAFBFD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792224"/>
            <a:ext cx="6309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61E2E"/>
                </a:solidFill>
                <a:latin typeface="맑은 고딕"/>
                <a:ea typeface="맑은 고딕"/>
              </a:rPr>
              <a:t>범내골교차로 침수 「경계」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84831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67690"/>
                </a:solidFill>
                <a:latin typeface="맑은 고딕"/>
                <a:ea typeface="맑은 고딕"/>
              </a:rPr>
              <a:t>탐지 14:20 · 경과 12분 · 상태 미처리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95728"/>
            <a:ext cx="1920240" cy="114300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2871216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667690"/>
                </a:solidFill>
                <a:latin typeface="맑은 고딕"/>
                <a:ea typeface="맑은 고딕"/>
              </a:rPr>
              <a:t>CCTV + ROI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9232" y="2432304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61E2E"/>
                </a:solidFill>
                <a:latin typeface="맑은 고딕"/>
                <a:ea typeface="맑은 고딕"/>
              </a:rPr>
              <a:t>근거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61E2E"/>
                </a:solidFill>
                <a:latin typeface="맑은 고딕"/>
                <a:ea typeface="맑은 고딕"/>
              </a:rPr>
              <a:t>수위 추정 18cm (모델 신뢰도 0.87)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61E2E"/>
                </a:solidFill>
                <a:latin typeface="맑은 고딕"/>
                <a:ea typeface="맑은 고딕"/>
              </a:rPr>
              <a:t>강수 12mm/h · 30분 후 「심각」 예측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99232" y="3200400"/>
            <a:ext cx="1417320" cy="2926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999232" y="3264408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161E2E"/>
                </a:solidFill>
                <a:latin typeface="맑은 고딕"/>
                <a:ea typeface="맑은 고딕"/>
              </a:rPr>
              <a:t>탐지 원본 보기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17136" y="3200400"/>
            <a:ext cx="1417320" cy="2926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17136" y="3264408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161E2E"/>
                </a:solidFill>
                <a:latin typeface="맑은 고딕"/>
                <a:ea typeface="맑은 고딕"/>
              </a:rPr>
              <a:t>오탐 신고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75887"/>
            <a:ext cx="6309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61E2E"/>
                </a:solidFill>
                <a:latin typeface="맑은 고딕"/>
                <a:ea typeface="맑은 고딕"/>
              </a:rPr>
              <a:t>조치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950208"/>
            <a:ext cx="1517904" cy="329184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4032504"/>
            <a:ext cx="1517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161E2E"/>
                </a:solidFill>
                <a:latin typeface="맑은 고딕"/>
                <a:ea typeface="맑은 고딕"/>
              </a:rPr>
              <a:t>현장 확인 요청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23744" y="3950208"/>
            <a:ext cx="1517904" cy="329184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523744" y="4032504"/>
            <a:ext cx="1517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161E2E"/>
                </a:solidFill>
                <a:latin typeface="맑은 고딕"/>
                <a:ea typeface="맑은 고딕"/>
              </a:rPr>
              <a:t>부서 통보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33087" y="3950208"/>
            <a:ext cx="1517904" cy="329184"/>
          </a:xfrm>
          <a:prstGeom prst="roundRect">
            <a:avLst>
              <a:gd name="adj" fmla="val 6000"/>
            </a:avLst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133087" y="4032504"/>
            <a:ext cx="1517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112/119 통보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42432" y="3950208"/>
            <a:ext cx="1517904" cy="329184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742432" y="4032504"/>
            <a:ext cx="1517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161E2E"/>
                </a:solidFill>
                <a:latin typeface="맑은 고딕"/>
                <a:ea typeface="맑은 고딕"/>
              </a:rPr>
              <a:t>종결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407408"/>
            <a:ext cx="630936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42415" y="4572000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667690"/>
                </a:solidFill>
                <a:latin typeface="맑은 고딕"/>
                <a:ea typeface="맑은 고딕"/>
              </a:rPr>
              <a:t>조치 기록 입력…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84064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667690"/>
                </a:solidFill>
                <a:latin typeface="맑은 고딕"/>
                <a:ea typeface="맑은 고딕"/>
              </a:rPr>
              <a:t>이력  14:20 자동탐지 · 14:24 홍길동 확인 · 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99248" y="1627632"/>
            <a:ext cx="3803904" cy="3977639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955279" y="18288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4F8CFF"/>
                </a:solidFill>
                <a:latin typeface="맑은 고딕"/>
                <a:ea typeface="맑은 고딕"/>
              </a:rPr>
              <a:t>「오탐 신고」를 넣은 이유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2231136"/>
            <a:ext cx="3291840" cy="1499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61E2E"/>
                </a:solidFill>
                <a:latin typeface="맑은 고딕"/>
                <a:ea typeface="맑은 고딕"/>
              </a:rPr>
              <a:t>우리 모델은 아직 실환경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61E2E"/>
                </a:solidFill>
                <a:latin typeface="맑은 고딕"/>
                <a:ea typeface="맑은 고딕"/>
              </a:rPr>
              <a:t>검증 전입니다.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61E2E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61E2E"/>
                </a:solidFill>
                <a:latin typeface="맑은 고딕"/>
                <a:ea typeface="맑은 고딕"/>
              </a:rPr>
              <a:t>관제요원이 즉석에서 오탐을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61E2E"/>
                </a:solidFill>
                <a:latin typeface="맑은 고딕"/>
                <a:ea typeface="맑은 고딕"/>
              </a:rPr>
              <a:t>신고할 수 있어야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61E2E"/>
                </a:solidFill>
                <a:latin typeface="맑은 고딕"/>
                <a:ea typeface="맑은 고딕"/>
              </a:rPr>
              <a:t>재학습 데이터가 쌓입니다.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38404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61E2E"/>
                </a:solidFill>
                <a:latin typeface="맑은 고딕"/>
                <a:ea typeface="맑은 고딕"/>
              </a:rPr>
              <a:t>제안서 활용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4169663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667690"/>
                </a:solidFill>
                <a:latin typeface="맑은 고딕"/>
                <a:ea typeface="맑은 고딕"/>
              </a:rPr>
              <a:t>현장 피드백이 모델 개선으로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667690"/>
                </a:solidFill>
                <a:latin typeface="맑은 고딕"/>
                <a:ea typeface="맑은 고딕"/>
              </a:rPr>
              <a:t>이어지는 구조는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667690"/>
                </a:solidFill>
                <a:latin typeface="맑은 고딕"/>
                <a:ea typeface="맑은 고딕"/>
              </a:rPr>
              <a:t>타사 대비 설명 가능한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667690"/>
                </a:solidFill>
                <a:latin typeface="맑은 고딕"/>
                <a:ea typeface="맑은 고딕"/>
              </a:rPr>
              <a:t>차별점이 됩니다.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67690"/>
                </a:solidFill>
                <a:latin typeface="맑은 고딕"/>
                <a:ea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61E2E"/>
                </a:solidFill>
                <a:latin typeface="맑은 고딕"/>
                <a:ea typeface="맑은 고딕"/>
              </a:rPr>
              <a:t>S-03 교대 인수인계 · S-70 외부 연계 (신규)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67690"/>
                </a:solidFill>
                <a:latin typeface="맑은 고딕"/>
                <a:ea typeface="맑은 고딕"/>
              </a:rPr>
              <a:t>설계서 5절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577840" cy="393192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41832" y="184708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61E2E"/>
                </a:solidFill>
                <a:latin typeface="맑은 고딕"/>
                <a:ea typeface="맑은 고딕"/>
              </a:rPr>
              <a:t>S-03 교대 인수인계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2194560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67690"/>
                </a:solidFill>
                <a:latin typeface="맑은 고딕"/>
                <a:ea typeface="맑은 고딕"/>
              </a:rPr>
              <a:t>주간(홍길동) → 야간(이관제)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1832" y="2505456"/>
            <a:ext cx="5065776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61E2E"/>
                </a:solidFill>
                <a:latin typeface="맑은 고딕"/>
                <a:ea typeface="맑은 고딕"/>
              </a:rPr>
              <a:t>인계 대상 진행 상황  2건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26080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667690"/>
                </a:solidFill>
                <a:latin typeface="맑은 고딕"/>
                <a:ea typeface="맑은 고딕"/>
              </a:rPr>
              <a:t>☑ 범내골 침수 경계 — 도로과 통보 완료, 현장 확인 대기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667690"/>
                </a:solidFill>
                <a:latin typeface="맑은 고딕"/>
                <a:ea typeface="맑은 고딕"/>
              </a:rPr>
              <a:t>☑ 센텀A 인파 배회 — 확인 중, 특이사항 없음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667690"/>
                </a:solidFill>
                <a:latin typeface="맑은 고딕"/>
                <a:ea typeface="맑은 고딕"/>
              </a:rPr>
              <a:t>장비 상태  CCTV 7/7 정상 · 연계 4/4 정상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4059936"/>
            <a:ext cx="512064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61E2E"/>
                </a:solidFill>
                <a:latin typeface="맑은 고딕"/>
                <a:ea typeface="맑은 고딕"/>
              </a:rPr>
              <a:t>3교대 24시간 운영이라 교대 시점이 대응 공백이 되기 쉽습니다.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61E2E"/>
                </a:solidFill>
                <a:latin typeface="맑은 고딕"/>
                <a:ea typeface="맑은 고딕"/>
              </a:rPr>
              <a:t>인계 내용이 시스템에 남으면 사후 감사 대응도 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65392" y="1645920"/>
            <a:ext cx="4937760" cy="393192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821424" y="184708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61E2E"/>
                </a:solidFill>
                <a:latin typeface="맑은 고딕"/>
                <a:ea typeface="맑은 고딕"/>
              </a:rPr>
              <a:t>S-70 외부 연계 상태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821424" y="2231136"/>
          <a:ext cx="4425696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26080"/>
                <a:gridCol w="1499616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연계처</a:t>
                      </a:r>
                    </a:p>
                  </a:txBody>
                  <a:tcPr marL="82296" marR="54864" marT="27432" marB="27432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상태</a:t>
                      </a:r>
                    </a:p>
                  </a:txBody>
                  <a:tcPr marL="82296" marR="54864" marT="27432" marB="27432" anchor="ctr">
                    <a:solidFill>
                      <a:srgbClr val="1B22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스마트도시 통합플랫폼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미연계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112 상황실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미연계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119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미연계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재난상황실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미연계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6821424" y="4206240"/>
            <a:ext cx="4425696" cy="1188720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040880" y="438912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D93A3F"/>
                </a:solidFill>
                <a:latin typeface="맑은 고딕"/>
                <a:ea typeface="맑은 고딕"/>
              </a:rPr>
              <a:t>연계 규격 미확보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4718304"/>
            <a:ext cx="40233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161E2E"/>
                </a:solidFill>
                <a:latin typeface="맑은 고딕"/>
                <a:ea typeface="맑은 고딕"/>
              </a:rPr>
              <a:t>화면은 설계하되 실제 연계는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161E2E"/>
                </a:solidFill>
                <a:latin typeface="맑은 고딕"/>
                <a:ea typeface="맑은 고딕"/>
              </a:rPr>
              <a:t>규격 입수 후 개발합니다.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67690"/>
                </a:solidFill>
                <a:latin typeface="맑은 고딕"/>
                <a:ea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651760"/>
            <a:ext cx="27432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4F8CF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3401568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맑은 고딕"/>
                <a:ea typeface="맑은 고딕"/>
              </a:rPr>
              <a:t>화면 목록과 권한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114800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9AA8BE"/>
                </a:solidFill>
                <a:latin typeface="맑은 고딕"/>
                <a:ea typeface="맑은 고딕"/>
              </a:rPr>
              <a:t>27개 화면 · 통보 권한 재정의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9AA8BE"/>
                </a:solidFill>
                <a:latin typeface="맑은 고딕"/>
                <a:ea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61E2E"/>
                </a:solidFill>
                <a:latin typeface="맑은 고딕"/>
                <a:ea typeface="맑은 고딕"/>
              </a:rPr>
              <a:t>화면 목록 (v2 개정)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67690"/>
                </a:solidFill>
                <a:latin typeface="맑은 고딕"/>
                <a:ea typeface="맑은 고딕"/>
              </a:rPr>
              <a:t>설계서 6절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45920"/>
          <a:ext cx="10817351" cy="404164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00400"/>
                <a:gridCol w="960120"/>
                <a:gridCol w="868680"/>
                <a:gridCol w="868680"/>
                <a:gridCol w="868680"/>
                <a:gridCol w="4050791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marL="82296" marR="54864" marT="27432" marB="27432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화면 수</a:t>
                      </a:r>
                    </a:p>
                  </a:txBody>
                  <a:tcPr marL="82296" marR="54864" marT="27432" marB="27432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있음</a:t>
                      </a:r>
                    </a:p>
                  </a:txBody>
                  <a:tcPr marL="82296" marR="54864" marT="27432" marB="27432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일부</a:t>
                      </a:r>
                    </a:p>
                  </a:txBody>
                  <a:tcPr marL="82296" marR="54864" marT="27432" marB="27432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없음</a:t>
                      </a:r>
                    </a:p>
                  </a:txBody>
                  <a:tcPr marL="82296" marR="54864" marT="27432" marB="27432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비고</a:t>
                      </a:r>
                    </a:p>
                  </a:txBody>
                  <a:tcPr marL="82296" marR="54864" marT="27432" marB="27432" anchor="ctr">
                    <a:solidFill>
                      <a:srgbClr val="1B22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공통 (로그인·통합상황판)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상황판 전면 재설계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이벤트 (신규 분류)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목록·상세·교대 인수인계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침수·교통위험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E9E52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심층 분석용으로 하향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인파관리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E9E52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C8930B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도로 노면 관리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E9E52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알림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C8930B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발송 요청은 S-02로 이동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연계 (신규 분류)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규격 입수 후 개발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설정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최대 공백 — 변화 없음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관리자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27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16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603504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667690"/>
                </a:solidFill>
                <a:latin typeface="맑은 고딕"/>
                <a:ea typeface="맑은 고딕"/>
              </a:rPr>
              <a:t>v1 23개 + 이벤트 3 + 연계 1 = 27개. 미개발 화면이 12개에서 16개로 늘었습니다.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67690"/>
                </a:solidFill>
                <a:latin typeface="맑은 고딕"/>
                <a:ea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61E2E"/>
                </a:solidFill>
                <a:latin typeface="맑은 고딕"/>
                <a:ea typeface="맑은 고딕"/>
              </a:rPr>
              <a:t>통보 권한 재정의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67690"/>
                </a:solidFill>
                <a:latin typeface="맑은 고딕"/>
                <a:ea typeface="맑은 고딕"/>
              </a:rPr>
              <a:t>설계서 7절 — 기관 통보와 주민 문자는 성격이 다릅니다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91640"/>
          <a:ext cx="10817352" cy="1554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383280"/>
                <a:gridCol w="2286000"/>
                <a:gridCol w="2560320"/>
                <a:gridCol w="2587752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marL="82296" marR="54864" marT="27432" marB="27432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대상</a:t>
                      </a:r>
                    </a:p>
                  </a:txBody>
                  <a:tcPr marL="82296" marR="54864" marT="27432" marB="27432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되돌릴 수 있나</a:t>
                      </a:r>
                    </a:p>
                  </a:txBody>
                  <a:tcPr marL="82296" marR="54864" marT="27432" marB="27432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권한</a:t>
                      </a:r>
                    </a:p>
                  </a:txBody>
                  <a:tcPr marL="82296" marR="54864" marT="27432" marB="27432" anchor="ctr">
                    <a:solidFill>
                      <a:srgbClr val="1B223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112/119 · 재난상황실 통보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기관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정정 통보 가능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E9E52"/>
                          </a:solidFill>
                          <a:latin typeface="맑은 고딕"/>
                          <a:ea typeface="맑은 고딕"/>
                        </a:rPr>
                        <a:t>관제요원 단독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주민 재난문자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불특정 다수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불가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2인 승인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85800" y="3429000"/>
            <a:ext cx="10817352" cy="1143000"/>
          </a:xfrm>
          <a:prstGeom prst="roundRect">
            <a:avLst>
              <a:gd name="adj" fmla="val 6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363931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8A5D00"/>
                </a:solidFill>
                <a:latin typeface="맑은 고딕"/>
                <a:ea typeface="맑은 고딕"/>
              </a:rPr>
              <a:t>왜 112/119는 관제요원 단독인가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986784"/>
            <a:ext cx="10241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161E2E"/>
                </a:solidFill>
                <a:latin typeface="맑은 고딕"/>
                <a:ea typeface="맑은 고딕"/>
              </a:rPr>
              <a:t>관제 운영 규정상 관제요원은 범죄·사고·재난 발견 시 즉시 112상황실·재난상황실에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161E2E"/>
                </a:solidFill>
                <a:latin typeface="맑은 고딕"/>
                <a:ea typeface="맑은 고딕"/>
              </a:rPr>
              <a:t>통보하게 되어 있습니다. 여기에 승인 절차를 넣으면 규정과 충돌합니다.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800600"/>
            <a:ext cx="10817352" cy="1005840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0120" y="499262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4F8CFF"/>
                </a:solidFill>
                <a:latin typeface="맑은 고딕"/>
                <a:ea typeface="맑은 고딕"/>
              </a:rPr>
              <a:t>주민 문자는 그대로 2인 승인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321808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61E2E"/>
                </a:solidFill>
                <a:latin typeface="맑은 고딕"/>
                <a:ea typeface="맑은 고딕"/>
              </a:rPr>
              <a:t>잘못 나간 재난문자는 되돌릴 수 없습니다. 「심각」 단계 단독 발송 대안은 설정으로 열어 둡니다.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67690"/>
                </a:solidFill>
                <a:latin typeface="맑은 고딕"/>
                <a:ea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61E2E"/>
                </a:solidFill>
                <a:latin typeface="맑은 고딕"/>
                <a:ea typeface="맑은 고딕"/>
              </a:rPr>
              <a:t>공통 사항 — v2 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67690"/>
                </a:solidFill>
                <a:latin typeface="맑은 고딕"/>
                <a:ea typeface="맑은 고딕"/>
              </a:rPr>
              <a:t>설계서 8절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349240" cy="3931920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41832" y="184708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D93A3F"/>
                </a:solidFill>
                <a:latin typeface="맑은 고딕"/>
                <a:ea typeface="맑은 고딕"/>
              </a:rPr>
              <a:t>지도 배경을 어떻게 조달하나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2212848"/>
            <a:ext cx="48463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61E2E"/>
                </a:solidFill>
                <a:latin typeface="맑은 고딕"/>
                <a:ea typeface="맑은 고딕"/>
              </a:rPr>
              <a:t>외부 지도 서비스는 폐쇄망에서 뜨지 않습니다.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61E2E"/>
                </a:solidFill>
                <a:latin typeface="맑은 고딕"/>
                <a:ea typeface="맑은 고딕"/>
              </a:rPr>
              <a:t>CDN 문제와 같은 성격입니다.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41832" y="2871216"/>
          <a:ext cx="4846320" cy="15179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68880"/>
                <a:gridCol w="237744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방식</a:t>
                      </a:r>
                    </a:p>
                  </a:txBody>
                  <a:tcPr marL="82296" marR="54864" marT="27432" marB="27432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검토</a:t>
                      </a:r>
                    </a:p>
                  </a:txBody>
                  <a:tcPr marL="82296" marR="54864" marT="27432" marB="27432" anchor="ctr">
                    <a:solidFill>
                      <a:srgbClr val="1B223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지자체 GIS 서버 연계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1순위 — 대부분 보유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국토지리정보원 내부망 구축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가능하나 구축 부담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단순 도식으로 대체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최소 대안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41832" y="4663440"/>
            <a:ext cx="48463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D93A3F"/>
                </a:solidFill>
                <a:latin typeface="맑은 고딕"/>
                <a:ea typeface="맑은 고딕"/>
              </a:rPr>
              <a:t>⚠ 어느 쪽이든 지자체 인프라 확인이 선행되어야 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2512" y="1645920"/>
            <a:ext cx="5120640" cy="393192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38544" y="1847088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61E2E"/>
                </a:solidFill>
                <a:latin typeface="맑은 고딕"/>
                <a:ea typeface="맑은 고딕"/>
              </a:rPr>
              <a:t>웹 접근성 — v2 추가분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544" y="2231136"/>
            <a:ext cx="46634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61E2E"/>
                </a:solidFill>
                <a:latin typeface="맑은 고딕"/>
                <a:ea typeface="맑은 고딕"/>
              </a:rPr>
              <a:t>지도가 들어가면서 지도 정보의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61E2E"/>
                </a:solidFill>
                <a:latin typeface="맑은 고딕"/>
                <a:ea typeface="맑은 고딕"/>
              </a:rPr>
              <a:t>대체 수단이 필요해졌습니다.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38544" y="3054096"/>
            <a:ext cx="4608576" cy="914400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858000" y="3200400"/>
            <a:ext cx="4206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61E2E"/>
                </a:solidFill>
                <a:latin typeface="맑은 고딕"/>
                <a:ea typeface="맑은 고딕"/>
              </a:rPr>
              <a:t>지도에만 있는 정보를 두면 안 되고,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61E2E"/>
                </a:solidFill>
                <a:latin typeface="맑은 고딕"/>
                <a:ea typeface="맑은 고딕"/>
              </a:rPr>
              <a:t>이벤트 큐가 항상 같은 정보를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61E2E"/>
                </a:solidFill>
                <a:latin typeface="맑은 고딕"/>
                <a:ea typeface="맑은 고딕"/>
              </a:rPr>
              <a:t>텍스트로 제공해야 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38544" y="4059936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61E2E"/>
                </a:solidFill>
                <a:latin typeface="맑은 고딕"/>
                <a:ea typeface="맑은 고딕"/>
              </a:rPr>
              <a:t>v1에서 이어지는 항목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38544" y="4389120"/>
            <a:ext cx="4663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667690"/>
                </a:solidFill>
                <a:latin typeface="맑은 고딕"/>
                <a:ea typeface="맑은 고딕"/>
              </a:rPr>
              <a:t>색상만으로 정보 전달 금지 (위험등급)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667690"/>
                </a:solidFill>
                <a:latin typeface="맑은 고딕"/>
                <a:ea typeface="맑은 고딕"/>
              </a:rPr>
              <a:t>키보드만으로 조작 (모달)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667690"/>
                </a:solidFill>
                <a:latin typeface="맑은 고딕"/>
                <a:ea typeface="맑은 고딕"/>
              </a:rPr>
              <a:t>대체 텍스트 · 명도 대비 · 초점 표시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67690"/>
                </a:solidFill>
                <a:latin typeface="맑은 고딕"/>
                <a:ea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61E2E"/>
                </a:solidFill>
                <a:latin typeface="맑은 고딕"/>
                <a:ea typeface="맑은 고딕"/>
              </a:rPr>
              <a:t>구현 순서 (v2 개정)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67690"/>
                </a:solidFill>
                <a:latin typeface="맑은 고딕"/>
                <a:ea typeface="맑은 고딕"/>
              </a:rPr>
              <a:t>설계서 9절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1700784" cy="11338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13816" y="181965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" y="2258568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61E2E"/>
                </a:solidFill>
                <a:latin typeface="맑은 고딕"/>
                <a:ea typeface="맑은 고딕"/>
              </a:rPr>
              <a:t>권한 매트릭스 확정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" y="25877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67690"/>
                </a:solidFill>
                <a:latin typeface="맑은 고딕"/>
                <a:ea typeface="맑은 고딕"/>
              </a:rPr>
              <a:t>112/119 포함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1691640"/>
            <a:ext cx="1700784" cy="11338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2642616" y="181965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42616" y="2258568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61E2E"/>
                </a:solidFill>
                <a:latin typeface="맑은 고딕"/>
                <a:ea typeface="맑은 고딕"/>
              </a:rPr>
              <a:t>DB 스키마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42616" y="25877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67690"/>
                </a:solidFill>
                <a:latin typeface="맑은 고딕"/>
                <a:ea typeface="맑은 고딕"/>
              </a:rPr>
              <a:t>이벤트 테이블 추가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91640"/>
            <a:ext cx="1700784" cy="11338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4471416" y="181965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1416" y="2258568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61E2E"/>
                </a:solidFill>
                <a:latin typeface="맑은 고딕"/>
                <a:ea typeface="맑은 고딕"/>
              </a:rPr>
              <a:t>로그인 + 인증 가드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1416" y="25877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67690"/>
                </a:solidFill>
                <a:latin typeface="맑은 고딕"/>
                <a:ea typeface="맑은 고딕"/>
              </a:rPr>
              <a:t>진행 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691640"/>
            <a:ext cx="1700784" cy="11338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300216" y="181965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216" y="2258568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61E2E"/>
                </a:solidFill>
                <a:latin typeface="맑은 고딕"/>
                <a:ea typeface="맑은 고딕"/>
              </a:rPr>
              <a:t>사용자·감사 로그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25877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67690"/>
                </a:solidFill>
                <a:latin typeface="맑은 고딕"/>
                <a:ea typeface="맑은 고딕"/>
              </a:rPr>
              <a:t>S-60 / S-61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691640"/>
            <a:ext cx="1700784" cy="1133856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8129016" y="1819656"/>
            <a:ext cx="365760" cy="365760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9016" y="2258568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61E2E"/>
                </a:solidFill>
                <a:latin typeface="맑은 고딕"/>
                <a:ea typeface="맑은 고딕"/>
              </a:rPr>
              <a:t>이벤트 모델·상세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9016" y="25877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67690"/>
                </a:solidFill>
                <a:latin typeface="맑은 고딕"/>
                <a:ea typeface="맑은 고딕"/>
              </a:rPr>
              <a:t>★ 순서 상승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29800" y="1691640"/>
            <a:ext cx="1700784" cy="11338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9957816" y="1819656"/>
            <a:ext cx="365760" cy="365760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57816" y="2258568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61E2E"/>
                </a:solidFill>
                <a:latin typeface="맑은 고딕"/>
                <a:ea typeface="맑은 고딕"/>
              </a:rPr>
              <a:t>통합 상황판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57816" y="25877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67690"/>
                </a:solidFill>
                <a:latin typeface="맑은 고딕"/>
                <a:ea typeface="맑은 고딕"/>
              </a:rPr>
              <a:t>지도 중심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3017520"/>
            <a:ext cx="1700784" cy="11338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813816" y="3145536"/>
            <a:ext cx="365760" cy="365760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" y="3584448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61E2E"/>
                </a:solidFill>
                <a:latin typeface="맑은 고딕"/>
                <a:ea typeface="맑은 고딕"/>
              </a:rPr>
              <a:t>알림 승인·통보 이력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" y="3913631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67690"/>
                </a:solidFill>
                <a:latin typeface="맑은 고딕"/>
                <a:ea typeface="맑은 고딕"/>
              </a:rPr>
              <a:t>S-40 / S-41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14600" y="3017520"/>
            <a:ext cx="1700784" cy="11338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2642616" y="3145536"/>
            <a:ext cx="365760" cy="365760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42616" y="3584448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61E2E"/>
                </a:solidFill>
                <a:latin typeface="맑은 고딕"/>
                <a:ea typeface="맑은 고딕"/>
              </a:rPr>
              <a:t>설정 화면군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42616" y="3913631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67690"/>
                </a:solidFill>
                <a:latin typeface="맑은 고딕"/>
                <a:ea typeface="맑은 고딕"/>
              </a:rPr>
              <a:t>S-50~S-55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43400" y="3017520"/>
            <a:ext cx="1700784" cy="11338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4471416" y="3145536"/>
            <a:ext cx="365760" cy="365760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71416" y="3584448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61E2E"/>
                </a:solidFill>
                <a:latin typeface="맑은 고딕"/>
                <a:ea typeface="맑은 고딕"/>
              </a:rPr>
              <a:t>교대 인수인계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71416" y="3913631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67690"/>
                </a:solidFill>
                <a:latin typeface="맑은 고딕"/>
                <a:ea typeface="맑은 고딕"/>
              </a:rPr>
              <a:t>S-03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3017520"/>
            <a:ext cx="1700784" cy="11338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6300216" y="3145536"/>
            <a:ext cx="365760" cy="365760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0216" y="3584448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61E2E"/>
                </a:solidFill>
                <a:latin typeface="맑은 고딕"/>
                <a:ea typeface="맑은 고딕"/>
              </a:rPr>
              <a:t>외부 연계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0216" y="3913631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67690"/>
                </a:solidFill>
                <a:latin typeface="맑은 고딕"/>
                <a:ea typeface="맑은 고딕"/>
              </a:rPr>
              <a:t>규격 입수 후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01000" y="3017520"/>
            <a:ext cx="1700784" cy="11338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8129016" y="3145536"/>
            <a:ext cx="365760" cy="365760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11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29016" y="3584448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61E2E"/>
                </a:solidFill>
                <a:latin typeface="맑은 고딕"/>
                <a:ea typeface="맑은 고딕"/>
              </a:rPr>
              <a:t>접근성 대응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29016" y="3913631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67690"/>
                </a:solidFill>
                <a:latin typeface="맑은 고딕"/>
                <a:ea typeface="맑은 고딕"/>
              </a:rPr>
              <a:t>전 화면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85800" y="4480560"/>
            <a:ext cx="10817352" cy="1005840"/>
          </a:xfrm>
          <a:prstGeom prst="roundRect">
            <a:avLst>
              <a:gd name="adj" fmla="val 6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960120" y="4663440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8A5D00"/>
                </a:solidFill>
                <a:latin typeface="맑은 고딕"/>
                <a:ea typeface="맑은 고딕"/>
              </a:rPr>
              <a:t>v1 대비 변화 — 이벤트 모델이 통합 상황판보다 앞으로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" y="499262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61E2E"/>
                </a:solidFill>
                <a:latin typeface="맑은 고딕"/>
                <a:ea typeface="맑은 고딕"/>
              </a:rPr>
              <a:t>상황판이 이벤트 위에 올라가는 구조라, 순서가 뒤바뀌면 두 번 만들게 됩니다.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" y="576072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67690"/>
                </a:solidFill>
                <a:latin typeface="맑은 고딕"/>
                <a:ea typeface="맑은 고딕"/>
              </a:rPr>
              <a:t>설계 확정과 무관하게 병행 가능 — 무인증 알림 엔드포인트 차단 · CDN 로컬 번들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67690"/>
                </a:solidFill>
                <a:latin typeface="맑은 고딕"/>
                <a:ea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맑은 고딕"/>
                <a:ea typeface="맑은 고딕"/>
              </a:rPr>
              <a:t>확인이 필요한 사항 (v2)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70432"/>
            <a:ext cx="10881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9AA8BE"/>
                </a:solidFill>
                <a:latin typeface="맑은 고딕"/>
                <a:ea typeface="맑은 고딕"/>
              </a:rPr>
              <a:t>설계서 10절 — 1·2번이 신규 최우선입니다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5285232" cy="969264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86968" y="1947672"/>
            <a:ext cx="438912" cy="438912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2184" y="1837944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통합플랫폼 연계 규격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72184" y="2148840"/>
            <a:ext cx="4297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9AA8BE"/>
                </a:solidFill>
                <a:latin typeface="맑은 고딕"/>
                <a:ea typeface="맑은 고딕"/>
              </a:rPr>
              <a:t>확인처  국토부 / 구축 지자체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72184" y="2386584"/>
            <a:ext cx="4297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4F8CFF"/>
                </a:solidFill>
                <a:latin typeface="맑은 고딕"/>
                <a:ea typeface="맑은 고딕"/>
              </a:rPr>
              <a:t>영향  연계 개발 전체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285232" cy="969264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6419088" y="1947672"/>
            <a:ext cx="438912" cy="438912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4304" y="1837944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대상 지자체 통합플랫폼 구축 여부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4304" y="2148840"/>
            <a:ext cx="4297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9AA8BE"/>
                </a:solidFill>
                <a:latin typeface="맑은 고딕"/>
                <a:ea typeface="맑은 고딕"/>
              </a:rPr>
              <a:t>확인처  영업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4304" y="2386584"/>
            <a:ext cx="4297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4F8CFF"/>
                </a:solidFill>
                <a:latin typeface="맑은 고딕"/>
                <a:ea typeface="맑은 고딕"/>
              </a:rPr>
              <a:t>영향  포지셔닝 (연계 vs 단독)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25496"/>
            <a:ext cx="5285232" cy="969264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86968" y="3081528"/>
            <a:ext cx="438912" cy="438912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72184" y="2971800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112/119 통보 권한·절차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72184" y="3282696"/>
            <a:ext cx="4297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9AA8BE"/>
                </a:solidFill>
                <a:latin typeface="맑은 고딕"/>
                <a:ea typeface="맑은 고딕"/>
              </a:rPr>
              <a:t>확인처  관제센터 운영규정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72184" y="3520439"/>
            <a:ext cx="4297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4F8CFF"/>
                </a:solidFill>
                <a:latin typeface="맑은 고딕"/>
                <a:ea typeface="맑은 고딕"/>
              </a:rPr>
              <a:t>영향  권한 매트릭스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825496"/>
            <a:ext cx="5285232" cy="969264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419088" y="3081528"/>
            <a:ext cx="438912" cy="438912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4304" y="2971800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지도 배경 조달 방식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04304" y="3282696"/>
            <a:ext cx="4297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9AA8BE"/>
                </a:solidFill>
                <a:latin typeface="맑은 고딕"/>
                <a:ea typeface="맑은 고딕"/>
              </a:rPr>
              <a:t>확인처  지자체 GIS 담당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04304" y="3520439"/>
            <a:ext cx="4297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4F8CFF"/>
                </a:solidFill>
                <a:latin typeface="맑은 고딕"/>
                <a:ea typeface="맑은 고딕"/>
              </a:rPr>
              <a:t>영향  상황판 구현 방식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959352"/>
            <a:ext cx="5285232" cy="969264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886968" y="4215384"/>
            <a:ext cx="438912" cy="438912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72184" y="4105656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주민 알림 승인 구조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72184" y="4416552"/>
            <a:ext cx="4297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9AA8BE"/>
                </a:solidFill>
                <a:latin typeface="맑은 고딕"/>
                <a:ea typeface="맑은 고딕"/>
              </a:rPr>
              <a:t>확인처  고객 운영규정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72184" y="4654296"/>
            <a:ext cx="4297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4F8CFF"/>
                </a:solidFill>
                <a:latin typeface="맑은 고딕"/>
                <a:ea typeface="맑은 고딕"/>
              </a:rPr>
              <a:t>영향  S-40 구조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959352"/>
            <a:ext cx="5285232" cy="969264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6419088" y="4215384"/>
            <a:ext cx="438912" cy="438912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04304" y="4105656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망분리 여부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04304" y="4416552"/>
            <a:ext cx="4297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9AA8BE"/>
                </a:solidFill>
                <a:latin typeface="맑은 고딕"/>
                <a:ea typeface="맑은 고딕"/>
              </a:rPr>
              <a:t>확인처  지자체 인프라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04304" y="4654296"/>
            <a:ext cx="4297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4F8CFF"/>
                </a:solidFill>
                <a:latin typeface="맑은 고딕"/>
                <a:ea typeface="맑은 고딕"/>
              </a:rPr>
              <a:t>영향  연계·지도·CDN 전반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5093208"/>
            <a:ext cx="5285232" cy="969264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86968" y="5349240"/>
            <a:ext cx="438912" cy="438912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72184" y="5239512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교대 편성 (3교대 여부)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72184" y="5550408"/>
            <a:ext cx="4297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9AA8BE"/>
                </a:solidFill>
                <a:latin typeface="맑은 고딕"/>
                <a:ea typeface="맑은 고딕"/>
              </a:rPr>
              <a:t>확인처  고객 운영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72184" y="5788152"/>
            <a:ext cx="4297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4F8CFF"/>
                </a:solidFill>
                <a:latin typeface="맑은 고딕"/>
                <a:ea typeface="맑은 고딕"/>
              </a:rPr>
              <a:t>영향  S-03 구조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5093208"/>
            <a:ext cx="5285232" cy="969264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6419088" y="5349240"/>
            <a:ext cx="438912" cy="438912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04304" y="5239512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웹 접근성 인증 요구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04304" y="5550408"/>
            <a:ext cx="4297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9AA8BE"/>
                </a:solidFill>
                <a:latin typeface="맑은 고딕"/>
                <a:ea typeface="맑은 고딕"/>
              </a:rPr>
              <a:t>확인처  발주 사양서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04304" y="5788152"/>
            <a:ext cx="4297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4F8CFF"/>
                </a:solidFill>
                <a:latin typeface="맑은 고딕"/>
                <a:ea typeface="맑은 고딕"/>
              </a:rPr>
              <a:t>영향  전체 작업량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630936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9AA8BE"/>
                </a:solidFill>
                <a:latin typeface="맑은 고딕"/>
                <a:ea typeface="맑은 고딕"/>
              </a:rPr>
              <a:t>UrbanGuard  ·  앤시정보기술(주)  ·  2026-08-07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9AA8BE"/>
                </a:solidFill>
                <a:latin typeface="맑은 고딕"/>
                <a:ea typeface="맑은 고딕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
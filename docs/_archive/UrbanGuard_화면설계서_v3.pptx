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276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66543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63824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 — 화면 설계서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12463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2차 비교 — 탐지에서 대응까지로 범위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434840"/>
            <a:ext cx="2395728" cy="768096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14983" y="4572000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행안부 진입차단시설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4846320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탐지→제어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434840"/>
            <a:ext cx="2395728" cy="768096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21024" y="4572000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상용 CAD 플랫폼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4846320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434840"/>
            <a:ext cx="2395728" cy="768096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27064" y="4572000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행안부 재난문자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4846320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주민 경보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434840"/>
            <a:ext cx="2395728" cy="768096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33104" y="4572000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서울 실시간 도시데이터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4846320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혼잡도·예측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2026-08-07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v2 → v3 — 기능 영역 4가지가 더 있었습니다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2차 비교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2596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3383280"/>
                <a:gridCol w="3383280"/>
                <a:gridCol w="35021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v2에 없던 것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v3 조치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제어 — 탐지만 하고 끝난다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원격제어 화면 신설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진입차단시설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자원·출동 관리가 없다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자원·출동 화면 신설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상용 CAD 핵심 기능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재난문자(CBS) 체계 미반영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CBS 화면 신설·알림 3계층화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재난문자 규정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예측과 모델 운영 화면이 없다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예측·모델 운영 신설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서울 실시간 도시데이터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495604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A5D00"/>
                </a:solidFill>
                <a:latin typeface="맑은 고딕"/>
                <a:ea typeface="맑은 고딕"/>
              </a:rPr>
              <a:t>가장 중요한 변화는 1번입니다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3035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지금까지 UrbanGuard는 「탐지해서 알려주는」 시스템이었습니다.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v3에서 「탐지해서 막는」 시스템으로 범위가 넓어집니다 — 제품 성격이 바뀌는 수준입니다.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2차 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299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행안부 지하차도 진입차단시설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40864"/>
            <a:ext cx="4791456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CCTV + 수위계 → 침수 감지 → 진입차단막 하강 + 경보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감지 즉시 재난안전상황실·도로관리청 자동 통보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원격 또는 자동 제어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서울시 중점관리 95개소 중 94개 설치 완료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299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상용 관제 플랫폼 (CAD)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40864"/>
            <a:ext cx="4791456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Hexagon · Motorola · NEC 공통 핵심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사건 관리 + 자원 디스패치 + 지능형 매핑을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단일 플랫폼에 통합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실시간 상황 추적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299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행안부 재난문자방송 (CBS)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53712"/>
            <a:ext cx="4791456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기지국 단위 방송 — 선택 지역 전체 동시 전송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위급재난 / 긴급재난 / 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(2종→4종 세분화 추진 중)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도로 통제도 발송 대상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299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서울시 실시간 도시데이터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53712"/>
            <a:ext cx="4791456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5분 단위 · 혼잡도 5단계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최근 12시간 이력 + AI 향후 12시간 예측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공공 데이터 + 통신사 인구데이터 융합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120개 장소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가장 큰 발견 — 우리는 마지막 한 칸이 비어 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행안부 지하차도 진입차단시설과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39" y="201168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CCTV·센서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7432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이미 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2860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78308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201168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침수 판정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7432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이미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상황실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통보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이미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2860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178308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201168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진입차단막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하강·경보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7432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2900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36393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왜 중요한가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986784"/>
            <a:ext cx="4846320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이 구조는 UrbanGuard 침수 도메인과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거의 동일합니다.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탐지만 하고 사람이 뛰어가서 막는다면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골든타임을 못 지킵니다.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감시 지점에 초량이 포함돼 있습니다.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342900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38544" y="36393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3F"/>
                </a:solidFill>
                <a:latin typeface="맑은 고딕"/>
                <a:ea typeface="맑은 고딕"/>
              </a:rPr>
              <a:t>다만 — 신중해야 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3986784"/>
            <a:ext cx="4663440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제어로 넘어가면 책임 구조가 바뀝니다.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· 오작동으로 사고 시 책임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· 미작동으로 인명피해 시 책임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· 도로관리청 소관 시설 조작 권한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 미검증입니다.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시설물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S-05 — 탐지에서 대응으로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S-05 시설물 원격제어 (신규)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301752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755648"/>
            <a:ext cx="10561320" cy="420624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6696" y="186537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D00"/>
                </a:solidFill>
                <a:latin typeface="맑은 고딕"/>
                <a:ea typeface="맑은 고딕"/>
              </a:rPr>
              <a:t>모드:  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65376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8A5D00"/>
                </a:solidFill>
                <a:latin typeface="맑은 고딕"/>
                <a:ea typeface="맑은 고딕"/>
              </a:rPr>
              <a:t>⚠ 자동제어 꺼짐 — 실제 조작은 담당자가 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2860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시설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2860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78608"/>
            <a:ext cx="10451592" cy="40233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2679192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E2E"/>
                </a:solidFill>
                <a:latin typeface="맑은 고딕"/>
                <a:ea typeface="맑은 고딕"/>
              </a:rPr>
              <a:t>초량 지하차도 진입차단</a:t>
            </a:r>
          </a:p>
        </p:txBody>
      </p:sp>
      <p:sp>
        <p:nvSpPr>
          <p:cNvPr id="14" name="Oval 13"/>
          <p:cNvSpPr/>
          <p:nvPr/>
        </p:nvSpPr>
        <p:spPr>
          <a:xfrm>
            <a:off x="4873752" y="2706624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267919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3A3F"/>
                </a:solidFill>
                <a:latin typeface="맑은 고딕"/>
                <a:ea typeface="맑은 고딕"/>
              </a:rPr>
              <a:t>침수감지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7919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633472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66760" y="26974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차단 권고 발송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054096"/>
            <a:ext cx="10451592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6696" y="3154680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범내골 지하차도 진입차단</a:t>
            </a:r>
          </a:p>
        </p:txBody>
      </p:sp>
      <p:sp>
        <p:nvSpPr>
          <p:cNvPr id="21" name="Oval 20"/>
          <p:cNvSpPr/>
          <p:nvPr/>
        </p:nvSpPr>
        <p:spPr>
          <a:xfrm>
            <a:off x="4873752" y="3182112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7" y="315468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E9E52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5468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310896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66760" y="317296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529584"/>
            <a:ext cx="10451592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96696" y="3630168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센텀 배수펌프장</a:t>
            </a:r>
          </a:p>
        </p:txBody>
      </p:sp>
      <p:sp>
        <p:nvSpPr>
          <p:cNvPr id="28" name="Oval 27"/>
          <p:cNvSpPr/>
          <p:nvPr/>
        </p:nvSpPr>
        <p:spPr>
          <a:xfrm>
            <a:off x="4873752" y="3657600"/>
            <a:ext cx="146304" cy="146304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7" y="36301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8930B"/>
                </a:solidFill>
                <a:latin typeface="맑은 고딕"/>
                <a:ea typeface="맑은 고딕"/>
              </a:rPr>
              <a:t>가동중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6301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584448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6760" y="364845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005072"/>
            <a:ext cx="10451592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96696" y="4105656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부산역 지하차도</a:t>
            </a:r>
          </a:p>
        </p:txBody>
      </p:sp>
      <p:sp>
        <p:nvSpPr>
          <p:cNvPr id="35" name="Oval 34"/>
          <p:cNvSpPr/>
          <p:nvPr/>
        </p:nvSpPr>
        <p:spPr>
          <a:xfrm>
            <a:off x="4873752" y="4133088"/>
            <a:ext cx="146304" cy="14630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7" y="410565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미연계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10565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4059936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66760" y="412394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연계 규격 필요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" y="29992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D93A3F"/>
                </a:solidFill>
                <a:latin typeface="맑은 고딕"/>
                <a:ea typeface="맑은 고딕"/>
              </a:rPr>
              <a:t>수위 22cm · 14:20 감지 · 도로관리청 통보 완료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82803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화면에 반드시 표시할 것</a:t>
            </a:r>
          </a:p>
        </p:txBody>
      </p:sp>
      <p:sp>
        <p:nvSpPr>
          <p:cNvPr id="42" name="Oval 41"/>
          <p:cNvSpPr/>
          <p:nvPr/>
        </p:nvSpPr>
        <p:spPr>
          <a:xfrm>
            <a:off x="749808" y="5285232"/>
            <a:ext cx="146304" cy="14630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5" y="524865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현재 모드를 항상 상단에 크게 — 자동인지 아닌지 모르는 상태가 가장 위험합니다</a:t>
            </a:r>
          </a:p>
        </p:txBody>
      </p:sp>
      <p:sp>
        <p:nvSpPr>
          <p:cNvPr id="44" name="Oval 43"/>
          <p:cNvSpPr/>
          <p:nvPr/>
        </p:nvSpPr>
        <p:spPr>
          <a:xfrm>
            <a:off x="749808" y="5650992"/>
            <a:ext cx="146304" cy="14630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5" y="561441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모든 제어 시도는 성공·실패 무관하게 감사 로그에 남깁니다</a:t>
            </a:r>
          </a:p>
        </p:txBody>
      </p:sp>
      <p:sp>
        <p:nvSpPr>
          <p:cNvPr id="46" name="Oval 45"/>
          <p:cNvSpPr/>
          <p:nvPr/>
        </p:nvSpPr>
        <p:spPr>
          <a:xfrm>
            <a:off x="749808" y="6016752"/>
            <a:ext cx="146304" cy="14630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5" y="598017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연동이 끊긴 시설은 「미연계」로 명확히 — 연동된 줄 알고 방치하는 것이 최악입니다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제어 범위 — 3단계로 나눠 접근합니다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2-1절 · 책임 구조가 달라지는 지점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283464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 → 차단 「권고 알림」만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실제 조작은 기존 시스템·담당자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5661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52"/>
                </a:solidFill>
                <a:latin typeface="맑은 고딕"/>
                <a:ea typeface="맑은 고딕"/>
              </a:rPr>
              <a:t>위험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953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⭐ 권고 시작점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502152" cy="28346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30B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원격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화면에서 제어 요청 송신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최종 실행은 시설 측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5661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930B"/>
                </a:solidFill>
                <a:latin typeface="맑은 고딕"/>
                <a:ea typeface="맑은 고딕"/>
              </a:rPr>
              <a:t>위험 중간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8953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검증 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91640"/>
            <a:ext cx="3502152" cy="28346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자동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조건 충족 시 자동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5661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3A3F"/>
                </a:solidFill>
                <a:latin typeface="맑은 고딕"/>
                <a:ea typeface="맑은 고딕"/>
              </a:rPr>
              <a:t>위험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953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별도 계약·보험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95604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권고 — 1단계로 시작합니다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화면은 3단계까지 설계하되 기본값은 「권고만」입니다.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2·3단계는 실환경 검증과 계약 조건이 갖춰진 뒤 단계적으로 엽니다. 모드 변경은 시스템관리자 전용입니다.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대응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자원·출동 · 재난문자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S-04 자원·출동 관리 · 알림 3계층 재정의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 / 2-2절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288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S-04 자원·출동 (신규)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94560"/>
            <a:ext cx="210312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가용 자원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순찰차 3/4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배수펌프차 1/2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점검인력 5/8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176272"/>
            <a:ext cx="21945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28416" y="2286000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범내골 — 순찰2호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14:32 출동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현재 이동 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0040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자원 GPS 추적은 1차 범위 제외.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「누가 어디로 갔고 언제 도착했나」 기록부터.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6420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알림 3계층 — v2까지는 하나였습니다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52160" y="2057400"/>
          <a:ext cx="5650992" cy="1591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1691640"/>
                <a:gridCol w="1280160"/>
                <a:gridCol w="126187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내부 통보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담당 부서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기관 통보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112·119·재난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정정 가능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주민 경보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852160" y="3703320"/>
            <a:ext cx="5650992" cy="566928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53328" y="3858768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93A3F"/>
                </a:solidFill>
                <a:latin typeface="맑은 고딕"/>
                <a:ea typeface="맑은 고딕"/>
              </a:rPr>
              <a:t>③이 v3 신규 — 화면도 절차도 분리해야 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0817352" cy="14630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S-06 재난문자(CBS) 발송 요청 — 직접 송출하지 않습니다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74336"/>
            <a:ext cx="51206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등급  ○위급재난  ⦿긴급재난  ○안전안내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대상 지역  동구 초량동 일대 (기지국 기준)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문안  [동구] 초량지하차도 침수로 전면 통제…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74336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8A5D00"/>
                </a:solidFill>
                <a:latin typeface="맑은 고딕"/>
                <a:ea typeface="맑은 고딕"/>
              </a:rPr>
              <a:t>CBS는 지자체 권한이며 행안부 시스템으로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5D00"/>
                </a:solidFill>
                <a:latin typeface="맑은 고딕"/>
                <a:ea typeface="맑은 고딕"/>
              </a:rPr>
              <a:t>발송됩니다. 우리는 요청서 문안까지만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5D00"/>
                </a:solidFill>
                <a:latin typeface="맑은 고딕"/>
                <a:ea typeface="맑은 고딕"/>
              </a:rPr>
              <a:t>만들어 넘깁니다 — 화면에 고정 표시합니다.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예측과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혼잡도 · 시민 제보 · 모델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S-24 인파 혼잡도 5단계와 예측 (신규)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서울시 실시간 도시데이터 체계에 맞춤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011680" cy="777240"/>
          </a:xfrm>
          <a:prstGeom prst="roundRect">
            <a:avLst>
              <a:gd name="adj" fmla="val 6000"/>
            </a:avLst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여유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91640"/>
            <a:ext cx="2011680" cy="777240"/>
          </a:xfrm>
          <a:prstGeom prst="roundRect">
            <a:avLst>
              <a:gd name="adj" fmla="val 6000"/>
            </a:avLst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880360" y="18288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1031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보통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91640"/>
            <a:ext cx="2011680" cy="777240"/>
          </a:xfrm>
          <a:prstGeom prst="roundRect">
            <a:avLst>
              <a:gd name="adj" fmla="val 6000"/>
            </a:avLst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74920" y="18288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1031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약간 붐빔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79" y="1691640"/>
            <a:ext cx="2011680" cy="777240"/>
          </a:xfrm>
          <a:prstGeom prst="roundRect">
            <a:avLst>
              <a:gd name="adj" fmla="val 6000"/>
            </a:avLst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69479" y="18288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4단계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1031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붐빔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691640"/>
            <a:ext cx="2011680" cy="777240"/>
          </a:xfrm>
          <a:prstGeom prst="roundRect">
            <a:avLst>
              <a:gd name="adj" fmla="val 6000"/>
            </a:avLst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64040" y="18288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5단계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1031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매우 붐빔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4320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292608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현재  붐빔(4단계) · 39명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31012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7690"/>
                </a:solidFill>
                <a:latin typeface="맑은 고딕"/>
                <a:ea typeface="맑은 고딕"/>
              </a:rPr>
              <a:t>최근 12시간   ▁▂▃▅▆▇▆▅▃▂▁▂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639312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향후 12시간   ▂▃▅▆▇▇▆▄▃▂▁▁   (예측)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968496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D93A3F"/>
                </a:solidFill>
                <a:latin typeface="맑은 고딕"/>
                <a:ea typeface="맑은 고딕"/>
              </a:rPr>
              <a:t>              └ 18:00 「매우 붐빔」 예상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6952" y="2743200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0" y="2926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3A3F"/>
                </a:solidFill>
                <a:latin typeface="맑은 고딕"/>
                <a:ea typeface="맑은 고딕"/>
              </a:rPr>
              <a:t>예측 모델은 아직 없습니다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246120"/>
            <a:ext cx="347472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운영 데이터가 6개월 이상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쌓여야 의미 있는 예측이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나옵니다.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그전까지는 이력만 표시하고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예측은 「수집 중」으로 둡니다.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0060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0120" y="49834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4F8CFF"/>
                </a:solidFill>
                <a:latin typeface="맑은 고딕"/>
                <a:ea typeface="맑은 고딕"/>
              </a:rPr>
              <a:t>왜 서울시 체계를 따르는가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3035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5단계 혼잡도는 사실상 국내 표준처럼 쓰이고 있어 지자체 담당자가 바로 이해합니다.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단, 성별·연령 추정은 개인정보 쟁점이 커져 넣지 않기를 권고합니다.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S-33 시민 제보 · S-80 모델 운영 · S-07 통계 (신규)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28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9E52"/>
                </a:solidFill>
                <a:latin typeface="맑은 고딕"/>
                <a:ea typeface="맑은 고딕"/>
              </a:rPr>
              <a:t>S-33 시민 제보 접수 (도로)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12848"/>
            <a:ext cx="4846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시민·순찰원이 스마트폰으로 촬영·제보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→ 담당자 확인 → 보수 요청 전환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→ 제보 사진이 그대로 학습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127248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노면 학습데이터 3회 실패의 우회 경로.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운영하면서 부산 데이터를 스스로 쌓습니다.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22402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8288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AI 모델 운영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38544" y="2212848"/>
          <a:ext cx="4608576" cy="1389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914400"/>
                <a:gridCol w="950976"/>
                <a:gridCol w="10058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탐지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오탐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 세그먼트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142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4.9%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운영중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 검출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891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2.6%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운영중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노면 손상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개발중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38544" y="35661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오탐률을 계속 보지 않으면 성능 저하를 놓칩니다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69080"/>
            <a:ext cx="10817352" cy="178308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426110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S-07 통계·성과 리포트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268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기간별 탐지 건수 · 대응 소요시간 · 등급 분포 · 조치 완료율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1091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7690"/>
                </a:solidFill>
                <a:latin typeface="맑은 고딕"/>
                <a:ea typeface="맑은 고딕"/>
              </a:rPr>
              <a:t>지자체는 연말 성과 보고가 필요하고, 그 숫자가 다음 해 예산 근거가 됩니다.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67690"/>
                </a:solidFill>
                <a:latin typeface="맑은 고딕"/>
                <a:ea typeface="맑은 고딕"/>
              </a:rPr>
              <a:t>우리가 이 화면을 주면 담당자의 실무 부담을 직접 줄여 주는 것이라 재계약에 유리합니다.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정보구조 · 화면 목록 ·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정보구조 (v3)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대분류 2개 추가 — 「대응」과 「분석」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3898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56232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78024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지도 중심 COP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13898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56232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78024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목록 · 상세 · 인수인계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13898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56232"/>
            <a:ext cx="384048" cy="3840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6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1E2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22037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D93A3F"/>
                </a:solidFill>
                <a:latin typeface="맑은 고딕"/>
                <a:ea typeface="맑은 고딕"/>
              </a:rPr>
              <a:t>★ v3 신규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78024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자원출동 · 시설제어 · CBS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1691640"/>
            <a:ext cx="2578608" cy="13898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134856" y="1856232"/>
            <a:ext cx="384048" cy="38404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4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1E2E"/>
                </a:solidFill>
                <a:latin typeface="맑은 고딕"/>
                <a:ea typeface="맑은 고딕"/>
              </a:rPr>
              <a:t>도메인별 상세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478024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침수 · 인파 · 도로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91840"/>
            <a:ext cx="2578608" cy="13898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50392" y="3456432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11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078224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승인 대기함 ·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8" y="3291840"/>
            <a:ext cx="2578608" cy="13898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3611880" y="3456432"/>
            <a:ext cx="384048" cy="38404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7368" y="3511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1E2E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8" y="38039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D93A3F"/>
                </a:solidFill>
                <a:latin typeface="맑은 고딕"/>
                <a:ea typeface="맑은 고딕"/>
              </a:rPr>
              <a:t>★ v3 신규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078224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통계 · AI 모델 운영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291840"/>
            <a:ext cx="2578608" cy="13898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373368" y="3456432"/>
            <a:ext cx="384048" cy="38404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6" y="3511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078224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통합플랫폼 · 112 · 119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70264" y="3291840"/>
            <a:ext cx="2578608" cy="13898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134856" y="3456432"/>
            <a:ext cx="384048" cy="38404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0344" y="3511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1E2E"/>
                </a:solidFill>
                <a:latin typeface="맑은 고딕"/>
                <a:ea typeface="맑은 고딕"/>
              </a:rPr>
              <a:t>설정 · 관리자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4078224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설정 6 · 관리자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029200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60120" y="523036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A5D00"/>
                </a:solidFill>
                <a:latin typeface="맑은 고딕"/>
                <a:ea typeface="맑은 고딕"/>
              </a:rPr>
              <a:t>「대응」이 신설되면서 UrbanGuard가 탐지 도구에서 관제 플랫폼으로 바뀝니다.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559552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단, 시설 제어는 「권고」 모드부터 시작합니다.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화면 목록 (v3)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7632"/>
          <a:ext cx="10817352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/>
                <a:gridCol w="777240"/>
                <a:gridCol w="868680"/>
                <a:gridCol w="868680"/>
                <a:gridCol w="868680"/>
                <a:gridCol w="414223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있음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v2 신규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대응 (자원·시설제어·CBS)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v3 신규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 (+혼잡도 예측)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예측 추가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(+시민 제보)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제보 추가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분석 (통계·모델운영)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v3 신규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최대 공백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23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23560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79729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8CFF"/>
                </a:solidFill>
                <a:latin typeface="맑은 고딕"/>
                <a:ea typeface="맑은 고딕"/>
              </a:rPr>
              <a:t>v1 23 → v2 27 → v3 34.  비교할수록 늘어나는 것은 정상입니다 — 몰랐던 것이 드러난 것입니다.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개인정보 — v3에서 커진 쟁점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6-3절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2" cy="24505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474720"/>
                <a:gridCol w="45994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쟁점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권고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배회 탐지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개인 행동 추적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기존 쟁점 · PIA 대상 여부 확인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성별·연령 추정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민감정보 추정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넣지 않기를 권고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시민 제보 사진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사람·차량번호 포함 가능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접수 시 자동 마스킹 필요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 위치 추적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직원 위치정보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1차 범위 제외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4206240"/>
            <a:ext cx="10817352" cy="155448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44348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3F"/>
                </a:solidFill>
                <a:latin typeface="맑은 고딕"/>
                <a:ea typeface="맑은 고딕"/>
              </a:rPr>
              <a:t>기능을 늘릴수록 개인정보 부담이 함께 커집니다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2803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성별·연령 추정은 서울시 사례에 있지만 통신사 데이터 기반이고, 우리는 CCTV 영상 분석입니다.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같은 정보라도 취득 방식이 달라 쟁점의 크기가 다릅니다.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주민 설명회·정보공개 청구 상황을 염두에 두고 넣지 않는 편을 권합니다.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구현 순서 (v3)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8절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819656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8424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권한 매트릭스 확정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91640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026664" y="1819656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198424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DB 스키마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91640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39512" y="1819656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0136" y="198424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로그인·인증 가드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91640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52360" y="1819656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2983" y="198424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사용자·감사 로그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691640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65208" y="1819656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5832" y="198424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이벤트 모델·상세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52344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3816" y="2880360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044951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2752344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026664" y="2880360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3044951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알림 승인·이력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2752344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239512" y="2880360"/>
            <a:ext cx="347472" cy="34747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0136" y="3044951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시설물 제어(권고)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752344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52360" y="2880360"/>
            <a:ext cx="347472" cy="34747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2983" y="3044951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설정 화면군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7192" y="2752344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65208" y="2880360"/>
            <a:ext cx="347472" cy="34747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3044951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시민 제보 접수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813048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3816" y="3941063"/>
            <a:ext cx="347472" cy="34747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10565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모델 운영·통계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813048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026664" y="3941063"/>
            <a:ext cx="347472" cy="34747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7288" y="410565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813048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239512" y="3941063"/>
            <a:ext cx="347472" cy="34747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0136" y="410565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인수인계·CBS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344" y="3813048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452360" y="3941063"/>
            <a:ext cx="347472" cy="34747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2983" y="410565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외부 연계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37192" y="3813048"/>
            <a:ext cx="2048256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665208" y="3941063"/>
            <a:ext cx="347472" cy="347472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85832" y="410565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02920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60120" y="52120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⑧ 시설물 제어를 앞으로 올린 이유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5412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「권고」 모드만이라면 기술적으로 알림의 변형이라 부담이 작은데, 제안에서 갖는 무게는 큽니다.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확인이 필요한 사항 (v3)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1·2번이 신규 최우선입니다 — 제품 범위 자체가 걸립니다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68680" y="1828800"/>
            <a:ext cx="420624" cy="42062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7739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지하차도 차단시설 연동 규격·제어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0848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도로관리청 / 제조사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00800" y="1828800"/>
            <a:ext cx="420624" cy="42062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17739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제어 오작동 시 책임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0848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법무 /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603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68680" y="2743200"/>
            <a:ext cx="420624" cy="42062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26883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통합플랫폼 연계 규격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29992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국토부 / 지자체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00800" y="2743200"/>
            <a:ext cx="420624" cy="42062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6883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CBS 연계 가능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9992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행안부 / 재난부서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68680" y="3657600"/>
            <a:ext cx="420624" cy="42062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36027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개인정보 영향평가 대상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3913631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지자체 개인정보 담당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400800" y="3657600"/>
            <a:ext cx="420624" cy="42062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6027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913631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891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68680" y="4572000"/>
            <a:ext cx="420624" cy="42062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45171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7" y="4828031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891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400800" y="4572000"/>
            <a:ext cx="420624" cy="42062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45171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828031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3035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68680" y="5486400"/>
            <a:ext cx="420624" cy="42062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5607" y="54315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35607" y="5742431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303520"/>
            <a:ext cx="5285232" cy="786384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400800" y="5486400"/>
            <a:ext cx="420624" cy="42062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54315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웹 접근성 인증 요구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5742431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2026-08-07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
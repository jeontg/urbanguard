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91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F8CFF"/>
                </a:solidFill>
                <a:latin typeface="맑은 고딕"/>
                <a:ea typeface="맑은 고딕"/>
              </a:rPr>
              <a:t>앤시정보기술(주)  ·  New Communication Infotech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21408"/>
            <a:ext cx="8686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 i="0">
                <a:solidFill>
                  <a:srgbClr val="FFFFFF"/>
                </a:solidFill>
                <a:latin typeface="맑은 고딕"/>
                <a:ea typeface="맑은 고딕"/>
              </a:rPr>
              <a:t>UrbanGuard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1868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FFFFFF"/>
                </a:solidFill>
                <a:latin typeface="맑은 고딕"/>
                <a:ea typeface="맑은 고딕"/>
              </a:rPr>
              <a:t>통합 도시안전 관제 솔루션 — 화면 설계서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6732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AA8BE"/>
                </a:solidFill>
                <a:latin typeface="맑은 고딕"/>
                <a:ea typeface="맑은 고딕"/>
              </a:rPr>
              <a:t>정보구조 · 화면 목록 · 권한 매트릭스 · 와이어프레임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498848"/>
            <a:ext cx="2212848" cy="74980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1" y="464515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F8CFF"/>
                </a:solidFill>
                <a:latin typeface="맑은 고딕"/>
                <a:ea typeface="맑은 고딕"/>
              </a:rPr>
              <a:t>UrbanGuard Flood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91947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AA8BE"/>
                </a:solidFill>
                <a:latin typeface="맑은 고딕"/>
                <a:ea typeface="맑은 고딕"/>
              </a:rPr>
              <a:t>침수·교통위험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4408" y="4498848"/>
            <a:ext cx="2212848" cy="74980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29000" y="464515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F8CFF"/>
                </a:solidFill>
                <a:latin typeface="맑은 고딕"/>
                <a:ea typeface="맑은 고딕"/>
              </a:rPr>
              <a:t>UrbanGuard Crowd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491947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AA8BE"/>
                </a:solidFill>
                <a:latin typeface="맑은 고딕"/>
                <a:ea typeface="맑은 고딕"/>
              </a:rPr>
              <a:t>인파관리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0136" y="4498848"/>
            <a:ext cx="2212848" cy="74980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824728" y="464515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F8CFF"/>
                </a:solidFill>
                <a:latin typeface="맑은 고딕"/>
                <a:ea typeface="맑은 고딕"/>
              </a:rPr>
              <a:t>UrbanGuard Road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4728" y="491947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AA8BE"/>
                </a:solidFill>
                <a:latin typeface="맑은 고딕"/>
                <a:ea typeface="맑은 고딕"/>
              </a:rPr>
              <a:t>도로 노면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AA8BE"/>
                </a:solidFill>
                <a:latin typeface="맑은 고딕"/>
                <a:ea typeface="맑은 고딕"/>
              </a:rPr>
              <a:t>2026-08-06  |  전략기획부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61E2E"/>
                </a:solidFill>
                <a:latin typeface="맑은 고딕"/>
                <a:ea typeface="맑은 고딕"/>
              </a:rPr>
              <a:t>결론 — 관제 화면은 있고, 운영 화면이 없습니다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0절 · 화면 23개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578608" cy="157276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883664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161E2E"/>
                </a:solidFill>
                <a:latin typeface="맑은 고딕"/>
                <a:ea typeface="맑은 고딕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70048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필요 화면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691640"/>
            <a:ext cx="2578608" cy="157276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30168" y="1883664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2E9E52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670048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이미 있음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91640"/>
            <a:ext cx="2578608" cy="157276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1656" y="1883664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C8930B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2670048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일부만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0264" y="1691640"/>
            <a:ext cx="2578608" cy="157276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53144" y="1883664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D93A3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3144" y="2670048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전혀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9584"/>
            <a:ext cx="10817352" cy="969264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3703320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1E2E"/>
                </a:solidFill>
                <a:latin typeface="맑은 고딕"/>
                <a:ea typeface="맑은 고딕"/>
              </a:rPr>
              <a:t>없는 화면 12개 중 6개가 「설정」 화면입니다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59936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67690"/>
                </a:solidFill>
                <a:latin typeface="맑은 고딕"/>
                <a:ea typeface="맑은 고딕"/>
              </a:rPr>
              <a:t>지금은 감시지점 추가·ROI 설정·임계값 변경을 전부 설정파일 직접 편집으로 처리합니다.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91456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1E2E"/>
                </a:solidFill>
                <a:latin typeface="맑은 고딕"/>
                <a:ea typeface="맑은 고딕"/>
              </a:rPr>
              <a:t>그래서 생기는 문제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5248656"/>
            <a:ext cx="146304" cy="14630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52120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지자체 담당자가 스스로 운영할 수 없습니다 — 파일을 편집하게 할 수는 없습니다</a:t>
            </a:r>
          </a:p>
        </p:txBody>
      </p:sp>
      <p:sp>
        <p:nvSpPr>
          <p:cNvPr id="22" name="Oval 21"/>
          <p:cNvSpPr/>
          <p:nvPr/>
        </p:nvSpPr>
        <p:spPr>
          <a:xfrm>
            <a:off x="749808" y="5632704"/>
            <a:ext cx="146304" cy="14630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559612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감시지점을 하나 늘릴 때마다 우리가 출동해야 하는 구조입니다</a:t>
            </a:r>
          </a:p>
        </p:txBody>
      </p:sp>
      <p:sp>
        <p:nvSpPr>
          <p:cNvPr id="24" name="Oval 23"/>
          <p:cNvSpPr/>
          <p:nvPr/>
        </p:nvSpPr>
        <p:spPr>
          <a:xfrm>
            <a:off x="749808" y="6016752"/>
            <a:ext cx="146304" cy="14630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5" y="5980176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부울경 타 지자체 확장 시 이 구조가 그대로 비용이 됩니다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61E2E"/>
                </a:solidFill>
                <a:latin typeface="맑은 고딕"/>
                <a:ea typeface="맑은 고딕"/>
              </a:rPr>
              <a:t>왜 화면 설계가 먼저인가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개발 착수 전에 확정되어야 하는 이유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10817352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60120" y="2011680"/>
            <a:ext cx="530352" cy="53035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847088"/>
            <a:ext cx="9418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1E2E"/>
                </a:solidFill>
                <a:latin typeface="맑은 고딕"/>
                <a:ea typeface="맑은 고딕"/>
              </a:rPr>
              <a:t>권한 매트릭스가 DB 스키마를 결정합니다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2249424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667690"/>
                </a:solidFill>
                <a:latin typeface="맑은 고딕"/>
                <a:ea typeface="맑은 고딕"/>
              </a:rPr>
              <a:t>「누가 무엇을 볼 수 있나」를 정하지 않으면 권한 테이블을 만들 수 없습니다.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667690"/>
                </a:solidFill>
                <a:latin typeface="맑은 고딕"/>
                <a:ea typeface="맑은 고딕"/>
              </a:rPr>
              <a:t>인증(P0-2)·DB(P0-4) 작업이 여기에 막혀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08960"/>
            <a:ext cx="10817352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0120" y="3493008"/>
            <a:ext cx="530352" cy="53035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3328416"/>
            <a:ext cx="9418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1E2E"/>
                </a:solidFill>
                <a:latin typeface="맑은 고딕"/>
                <a:ea typeface="맑은 고딕"/>
              </a:rPr>
              <a:t>웹 접근성은 사후 적용 시 전면 재작업입니다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3730752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667690"/>
                </a:solidFill>
                <a:latin typeface="맑은 고딕"/>
                <a:ea typeface="맑은 고딕"/>
              </a:rPr>
              <a:t>공공기관 납품은 웹 접근성 요구 가능성이 있습니다.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667690"/>
                </a:solidFill>
                <a:latin typeface="맑은 고딕"/>
                <a:ea typeface="맑은 고딕"/>
              </a:rPr>
              <a:t>설계에 넣으면 비용이 거의 없지만, 나중에 붙이면 화면을 다시 만들어야 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90288"/>
            <a:ext cx="10817352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60120" y="4974336"/>
            <a:ext cx="530352" cy="53035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4809744"/>
            <a:ext cx="9418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1E2E"/>
                </a:solidFill>
                <a:latin typeface="맑은 고딕"/>
                <a:ea typeface="맑은 고딕"/>
              </a:rPr>
              <a:t>제안·시연에서 보이는 것은 결국 화면입니다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21208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667690"/>
                </a:solidFill>
                <a:latin typeface="맑은 고딕"/>
                <a:ea typeface="맑은 고딕"/>
              </a:rPr>
              <a:t>평가위원에게 내놓을 산출물이 필요하고,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667690"/>
                </a:solidFill>
                <a:latin typeface="맑은 고딕"/>
                <a:ea typeface="맑은 고딕"/>
              </a:rPr>
              <a:t>화면 설계서는 제안서에 그대로 들어갑니다.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F8C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정보구조(IA)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E"/>
                </a:solidFill>
                <a:latin typeface="맑은 고딕"/>
                <a:ea typeface="맑은 고딕"/>
              </a:rPr>
              <a:t>탭 4개에서 2단계 메뉴로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9AA8BE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61E2E"/>
                </a:solidFill>
                <a:latin typeface="맑은 고딕"/>
                <a:ea typeface="맑은 고딕"/>
              </a:rPr>
              <a:t>정보구조 — 현재와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2절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184708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667690"/>
                </a:solidFill>
                <a:latin typeface="맑은 고딕"/>
                <a:ea typeface="맑은 고딕"/>
              </a:rPr>
              <a:t>현재 (PoC)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395728"/>
            <a:ext cx="182880" cy="18288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774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단일 페이지 · 탭 4개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944368"/>
            <a:ext cx="182880" cy="18288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9260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로그인 없음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493008"/>
            <a:ext cx="182880" cy="18288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4747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설정 화면 없음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041648"/>
            <a:ext cx="182880" cy="18288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0233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이력·감사추적 없음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590288"/>
            <a:ext cx="182880" cy="18288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5720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도메인 간 연결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1645920"/>
            <a:ext cx="5120640" cy="3977639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56832" y="184708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4F8CFF"/>
                </a:solidFill>
                <a:latin typeface="맑은 고딕"/>
                <a:ea typeface="맑은 고딕"/>
              </a:rPr>
              <a:t>제안 (제품)</a:t>
            </a:r>
          </a:p>
        </p:txBody>
      </p:sp>
      <p:sp>
        <p:nvSpPr>
          <p:cNvPr id="18" name="Oval 17"/>
          <p:cNvSpPr/>
          <p:nvPr/>
        </p:nvSpPr>
        <p:spPr>
          <a:xfrm>
            <a:off x="6656832" y="2395728"/>
            <a:ext cx="182880" cy="18288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3774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2단계 메뉴 · 대분류 6 / 화면 23</a:t>
            </a:r>
          </a:p>
        </p:txBody>
      </p:sp>
      <p:sp>
        <p:nvSpPr>
          <p:cNvPr id="20" name="Oval 19"/>
          <p:cNvSpPr/>
          <p:nvPr/>
        </p:nvSpPr>
        <p:spPr>
          <a:xfrm>
            <a:off x="6656832" y="2944368"/>
            <a:ext cx="182880" cy="18288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9260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로그인 + 권한 3단계</a:t>
            </a:r>
          </a:p>
        </p:txBody>
      </p:sp>
      <p:sp>
        <p:nvSpPr>
          <p:cNvPr id="22" name="Oval 21"/>
          <p:cNvSpPr/>
          <p:nvPr/>
        </p:nvSpPr>
        <p:spPr>
          <a:xfrm>
            <a:off x="6656832" y="3493008"/>
            <a:ext cx="182880" cy="18288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4747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설정 화면 6종 신설</a:t>
            </a:r>
          </a:p>
        </p:txBody>
      </p:sp>
      <p:sp>
        <p:nvSpPr>
          <p:cNvPr id="24" name="Oval 23"/>
          <p:cNvSpPr/>
          <p:nvPr/>
        </p:nvSpPr>
        <p:spPr>
          <a:xfrm>
            <a:off x="6656832" y="4041648"/>
            <a:ext cx="182880" cy="18288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0233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감사 로그 · 알림 이력</a:t>
            </a:r>
          </a:p>
        </p:txBody>
      </p:sp>
      <p:sp>
        <p:nvSpPr>
          <p:cNvPr id="26" name="Oval 25"/>
          <p:cNvSpPr/>
          <p:nvPr/>
        </p:nvSpPr>
        <p:spPr>
          <a:xfrm>
            <a:off x="6656832" y="4590288"/>
            <a:ext cx="182880" cy="18288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5720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61E2E"/>
                </a:solidFill>
                <a:latin typeface="맑은 고딕"/>
                <a:ea typeface="맑은 고딕"/>
              </a:rPr>
              <a:t>통합 상황판으로 3개 도메인 결합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06440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2688" y="596188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A5D00"/>
                </a:solidFill>
                <a:latin typeface="맑은 고딕"/>
                <a:ea typeface="맑은 고딕"/>
              </a:rPr>
              <a:t>핵심 변경 : 통합 상황판(홈) 신설 — 지금은 3개 도메인이 단절돼 한눈에 볼 화면이 없습니다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61E2E"/>
                </a:solidFill>
                <a:latin typeface="맑은 고딕"/>
                <a:ea typeface="맑은 고딕"/>
              </a:rPr>
              <a:t>제안 메뉴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대분류 6 · 화면 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64208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828800"/>
            <a:ext cx="384048" cy="38404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836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61E2E"/>
                </a:solidFill>
                <a:latin typeface="맑은 고딕"/>
                <a:ea typeface="맑은 고딕"/>
              </a:rPr>
              <a:t>공통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77440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690"/>
                </a:solidFill>
                <a:latin typeface="맑은 고딕"/>
                <a:ea typeface="맑은 고딕"/>
              </a:rPr>
              <a:t>로그인 · 통합 상황판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64208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611880" y="1828800"/>
            <a:ext cx="384048" cy="38404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8836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61E2E"/>
                </a:solidFill>
                <a:latin typeface="맑은 고딕"/>
                <a:ea typeface="맑은 고딕"/>
              </a:rPr>
              <a:t>침수·교통위험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77440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690"/>
                </a:solidFill>
                <a:latin typeface="맑은 고딕"/>
                <a:ea typeface="맑은 고딕"/>
              </a:rPr>
              <a:t>관제 · 지점상세 · 보고서 · 이력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664208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373368" y="1828800"/>
            <a:ext cx="384048" cy="38404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856" y="18836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61E2E"/>
                </a:solidFill>
                <a:latin typeface="맑은 고딕"/>
                <a:ea typeface="맑은 고딕"/>
              </a:rPr>
              <a:t>인파관리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77440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690"/>
                </a:solidFill>
                <a:latin typeface="맑은 고딕"/>
                <a:ea typeface="맑은 고딕"/>
              </a:rPr>
              <a:t>관제 · 이벤트 · 사례 · 소스전환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664208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34856" y="1828800"/>
            <a:ext cx="384048" cy="384048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0344" y="18836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61E2E"/>
                </a:solidFill>
                <a:latin typeface="맑은 고딕"/>
                <a:ea typeface="맑은 고딕"/>
              </a:rPr>
              <a:t>도로 노면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377440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690"/>
                </a:solidFill>
                <a:latin typeface="맑은 고딕"/>
                <a:ea typeface="맑은 고딕"/>
              </a:rPr>
              <a:t>현황 · AI탐지 · 보수이력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36976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401568"/>
            <a:ext cx="384048" cy="384048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56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61E2E"/>
                </a:solidFill>
                <a:latin typeface="맑은 고딕"/>
                <a:ea typeface="맑은 고딕"/>
              </a:rPr>
              <a:t>알림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950208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690"/>
                </a:solidFill>
                <a:latin typeface="맑은 고딕"/>
                <a:ea typeface="맑은 고딕"/>
              </a:rPr>
              <a:t>발송 승인 · 발송 이력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7288" y="3236976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3611880" y="3401568"/>
            <a:ext cx="384048" cy="384048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7368" y="3456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61E2E"/>
                </a:solidFill>
                <a:latin typeface="맑은 고딕"/>
                <a:ea typeface="맑은 고딕"/>
              </a:rPr>
              <a:t>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950208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690"/>
                </a:solidFill>
                <a:latin typeface="맑은 고딕"/>
                <a:ea typeface="맑은 고딕"/>
              </a:rPr>
              <a:t>지점 · ROI · 임계값 · 알림 · 모델 · 기관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3236976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73368" y="3401568"/>
            <a:ext cx="384048" cy="384048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8856" y="3456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61E2E"/>
                </a:solidFill>
                <a:latin typeface="맑은 고딕"/>
                <a:ea typeface="맑은 고딕"/>
              </a:rPr>
              <a:t>관리자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950208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690"/>
                </a:solidFill>
                <a:latin typeface="맑은 고딕"/>
                <a:ea typeface="맑은 고딕"/>
              </a:rPr>
              <a:t>사용자·권한 · 감사 로그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3236976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62288" y="3438144"/>
            <a:ext cx="2139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화면 23개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3803904"/>
            <a:ext cx="213969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9AA8BE"/>
                </a:solidFill>
                <a:latin typeface="맑은 고딕"/>
                <a:ea typeface="맑은 고딕"/>
              </a:rPr>
              <a:t>있음 9 · 일부 2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9AA8BE"/>
                </a:solidFill>
                <a:latin typeface="맑은 고딕"/>
                <a:ea typeface="맑은 고딕"/>
              </a:rPr>
              <a:t>없음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F8C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화면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E"/>
                </a:solidFill>
                <a:latin typeface="맑은 고딕"/>
                <a:ea typeface="맑은 고딕"/>
              </a:rPr>
              <a:t>무엇이 있고 무엇이 없는가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9AA8BE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61E2E"/>
                </a:solidFill>
                <a:latin typeface="맑은 고딕"/>
                <a:ea typeface="맑은 고딕"/>
              </a:rPr>
              <a:t>화면 목록 — 구분별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3절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64208"/>
          <a:ext cx="10817352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66160"/>
                <a:gridCol w="1051560"/>
                <a:gridCol w="914400"/>
                <a:gridCol w="914400"/>
                <a:gridCol w="914400"/>
                <a:gridCol w="345643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 수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있음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일부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공통 (로그인·통합상황판)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전부 신규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침수·교통위험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가장 성숙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인파관리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이력 저장 없음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도로 노면 관리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보수 요청·이력 없음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API만 존재 · 화면 없음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전부 신규 — 최대 공백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전부 신규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23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43600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67690"/>
                </a:solidFill>
                <a:latin typeface="맑은 고딕"/>
                <a:ea typeface="맑은 고딕"/>
              </a:rPr>
              <a:t>침수 도메인만 완결돼 있고, 설정·관리자 영역 8개 화면은 아직 존재하지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61E2E"/>
                </a:solidFill>
                <a:latin typeface="맑은 고딕"/>
                <a:ea typeface="맑은 고딕"/>
              </a:rPr>
              <a:t>없는 화면 12개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이번 개발의 실제 범위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184708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4F8CFF"/>
                </a:solidFill>
                <a:latin typeface="맑은 고딕"/>
                <a:ea typeface="맑은 고딕"/>
              </a:rPr>
              <a:t>설정 화면 6개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현재 설정파일 직접 편집으로 대체 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1518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4F8CFF"/>
                </a:solidFill>
                <a:latin typeface="맑은 고딕"/>
                <a:ea typeface="맑은 고딕"/>
              </a:rPr>
              <a:t>S-50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1518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감시지점(블록)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1810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4F8CFF"/>
                </a:solidFill>
                <a:latin typeface="맑은 고딕"/>
                <a:ea typeface="맑은 고딕"/>
              </a:rPr>
              <a:t>S-51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1810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ROI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2102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4F8CFF"/>
                </a:solidFill>
                <a:latin typeface="맑은 고딕"/>
                <a:ea typeface="맑은 고딕"/>
              </a:rPr>
              <a:t>S-52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62102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위험도 임계값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2394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4F8CFF"/>
                </a:solidFill>
                <a:latin typeface="맑은 고딕"/>
                <a:ea typeface="맑은 고딕"/>
              </a:rPr>
              <a:t>S-53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12394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알림 규칙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268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4F8CFF"/>
                </a:solidFill>
                <a:latin typeface="맑은 고딕"/>
                <a:ea typeface="맑은 고딕"/>
              </a:rPr>
              <a:t>S-54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62686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AI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29783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4F8CFF"/>
                </a:solidFill>
                <a:latin typeface="맑은 고딕"/>
                <a:ea typeface="맑은 고딕"/>
              </a:rPr>
              <a:t>S-55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129783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기관 정보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2512" y="164592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56832" y="184708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1E2E"/>
                </a:solidFill>
                <a:latin typeface="맑은 고딕"/>
                <a:ea typeface="맑은 고딕"/>
              </a:rPr>
              <a:t>그 외 6개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219456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제품이 되기 위한 필수 화면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261518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667690"/>
                </a:solidFill>
                <a:latin typeface="맑은 고딕"/>
                <a:ea typeface="맑은 고딕"/>
              </a:rPr>
              <a:t>S-00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261518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로그인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311810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667690"/>
                </a:solidFill>
                <a:latin typeface="맑은 고딕"/>
                <a:ea typeface="맑은 고딕"/>
              </a:rPr>
              <a:t>S-01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1" y="311810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통합 상황판(홈)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362102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667690"/>
                </a:solidFill>
                <a:latin typeface="맑은 고딕"/>
                <a:ea typeface="맑은 고딕"/>
              </a:rPr>
              <a:t>S-32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2631" y="362102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도로 보수 요청·이력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412394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667690"/>
                </a:solidFill>
                <a:latin typeface="맑은 고딕"/>
                <a:ea typeface="맑은 고딕"/>
              </a:rPr>
              <a:t>S-41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1" y="412394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알림 발송 이력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6268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667690"/>
                </a:solidFill>
                <a:latin typeface="맑은 고딕"/>
                <a:ea typeface="맑은 고딕"/>
              </a:rPr>
              <a:t>S-60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462686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사용자·권한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5129783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667690"/>
                </a:solidFill>
                <a:latin typeface="맑은 고딕"/>
                <a:ea typeface="맑은 고딕"/>
              </a:rPr>
              <a:t>S-61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42631" y="5129783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감사 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F8C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권한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E"/>
                </a:solidFill>
                <a:latin typeface="맑은 고딕"/>
                <a:ea typeface="맑은 고딕"/>
              </a:rPr>
              <a:t>이 절의 결과가 DB 스키마가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9AA8BE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61E2E"/>
                </a:solidFill>
                <a:latin typeface="맑은 고딕"/>
                <a:ea typeface="맑은 고딕"/>
              </a:rPr>
              <a:t>운영 역할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4절 · 지자체 조직 구성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41832" y="1874519"/>
            <a:ext cx="658368" cy="65836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SYS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1E2E"/>
                </a:solidFill>
                <a:latin typeface="맑은 고딕"/>
                <a:ea typeface="맑은 고딕"/>
              </a:rPr>
              <a:t>시스템관리자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6504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7690"/>
                </a:solidFill>
                <a:latin typeface="맑은 고딕"/>
                <a:ea typeface="맑은 고딕"/>
              </a:rPr>
              <a:t>정보통신 부서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전체 권한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사용자·권한 관리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전 설정 변경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감사 로그 조회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26864" y="1874519"/>
            <a:ext cx="658368" cy="65836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MGR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1536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1E2E"/>
                </a:solidFill>
                <a:latin typeface="맑은 고딕"/>
                <a:ea typeface="맑은 고딕"/>
              </a:rPr>
              <a:t>부서담당자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1536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7690"/>
                </a:solidFill>
                <a:latin typeface="맑은 고딕"/>
                <a:ea typeface="맑은 고딕"/>
              </a:rPr>
              <a:t>안전총괄 · 도로 부서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83464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담당 도메인 전체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알림 발송 승인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담당 도메인 설정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보고서 확정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11896" y="1874519"/>
            <a:ext cx="658368" cy="658368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OPR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1E2E"/>
                </a:solidFill>
                <a:latin typeface="맑은 고딕"/>
                <a:ea typeface="맑은 고딕"/>
              </a:rPr>
              <a:t>관제요원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7690"/>
                </a:solidFill>
                <a:latin typeface="맑은 고딕"/>
                <a:ea typeface="맑은 고딕"/>
              </a:rPr>
              <a:t>상황실 근무자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83464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조회 중심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조치 기록 입력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알림 발송 요청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61E2E"/>
                </a:solidFill>
                <a:latin typeface="맑은 고딕"/>
                <a:ea typeface="맑은 고딕"/>
              </a:rPr>
              <a:t>AI 탐지 실행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806440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96188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부서별 도메인 분리 운영 시 사용자↔도메인 매핑 테이블이 추가로 필요합니다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61E2E"/>
                </a:solidFill>
                <a:latin typeface="맑은 고딕"/>
                <a:ea typeface="맑은 고딕"/>
              </a:rPr>
              <a:t>권한 매트릭스 (요약)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● 전체   ◐ 조회만   ○ 제한적   – 접근 불가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817352" cy="40416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60520"/>
                <a:gridCol w="2103120"/>
                <a:gridCol w="2450592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SYS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MGR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OPR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통합 상황판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침수·인파·도로 관제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보고서 · 브리핑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○ 조회·출력만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AI 탐지 실행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○ 실행만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발송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 승인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○ 요청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이력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감시지점 · ROI · 임계값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○ 담당 도메인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AI 모델 · 기관 정보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사용자·권한 관리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감사 로그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 본인 부서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61E2E"/>
                </a:solidFill>
                <a:latin typeface="맑은 고딕"/>
                <a:ea typeface="맑은 고딕"/>
              </a:rPr>
              <a:t>확정이 필요합니다 — 주민 알림 발송 권한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4절 · 화면 구조와 DB 스키마가 여기서 갈립니다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27632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61E2E"/>
                </a:solidFill>
                <a:latin typeface="맑은 고딕"/>
                <a:ea typeface="맑은 고딕"/>
              </a:rPr>
              <a:t>제안 : 2인 승인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6968" y="2194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67690"/>
                </a:solidFill>
                <a:latin typeface="맑은 고딕"/>
                <a:ea typeface="맑은 고딕"/>
              </a:rPr>
              <a:t>관제요원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42032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667690"/>
                </a:solidFill>
                <a:latin typeface="맑은 고딕"/>
                <a:ea typeface="맑은 고딕"/>
              </a:rPr>
              <a:t>상황 확인 후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667690"/>
                </a:solidFill>
                <a:latin typeface="맑은 고딕"/>
                <a:ea typeface="맑은 고딕"/>
              </a:rPr>
              <a:t>발송 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432304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01168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950207" y="2194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9E52"/>
                </a:solidFill>
                <a:latin typeface="맑은 고딕"/>
                <a:ea typeface="맑은 고딕"/>
              </a:rPr>
              <a:t>부서담당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7" y="2542032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667690"/>
                </a:solidFill>
                <a:latin typeface="맑은 고딕"/>
                <a:ea typeface="맑은 고딕"/>
              </a:rPr>
              <a:t>문안·수신자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667690"/>
                </a:solidFill>
                <a:latin typeface="맑은 고딕"/>
                <a:ea typeface="맑은 고딕"/>
              </a:rPr>
              <a:t>확인 후 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32304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01168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13448" y="2194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F8CFF"/>
                </a:solidFill>
                <a:latin typeface="맑은 고딕"/>
                <a:ea typeface="맑은 고딕"/>
              </a:rPr>
              <a:t>발송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542032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667690"/>
                </a:solidFill>
                <a:latin typeface="맑은 고딕"/>
                <a:ea typeface="맑은 고딕"/>
              </a:rPr>
              <a:t>SMS 발송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667690"/>
                </a:solidFill>
                <a:latin typeface="맑은 고딕"/>
                <a:ea typeface="맑은 고딕"/>
              </a:rPr>
              <a:t>감사로그 기록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93008"/>
            <a:ext cx="5349240" cy="1481328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3675887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93A3F"/>
                </a:solidFill>
                <a:latin typeface="맑은 고딕"/>
                <a:ea typeface="맑은 고딕"/>
              </a:rPr>
              <a:t>그대로 갈 경우의 위험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041648"/>
            <a:ext cx="4846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재난 상황의 신속성과 충돌합니다.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야간·휴일 단독 근무 시 승인자가 없으면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발송 자체가 막힙니다.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493008"/>
            <a:ext cx="5349240" cy="14813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0" y="3675887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4F8CFF"/>
                </a:solidFill>
                <a:latin typeface="맑은 고딕"/>
                <a:ea typeface="맑은 고딕"/>
              </a:rPr>
              <a:t>대안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41648"/>
            <a:ext cx="4846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위험등급 「심각」일 때는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관제요원 단독 발송을 허용하고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사후 승인으로 처리합니다.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30368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541324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4F8CFF"/>
                </a:solidFill>
                <a:latin typeface="맑은 고딕"/>
                <a:ea typeface="맑은 고딕"/>
              </a:rPr>
              <a:t>고객 확인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72414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지자체 실제 재난 대응 운영규정에 맞춰야 하는 사항입니다. 우리가 정할 수 없습니다.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61E2E"/>
                </a:solidFill>
                <a:latin typeface="맑은 고딕"/>
                <a:ea typeface="맑은 고딕"/>
              </a:rPr>
              <a:t>권한 매트릭스가 곧 DB 스키마입니다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4절 — 인증(P0-2)·DB(P0-4)가 여기에 막혀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1892808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F8CFF"/>
                </a:solidFill>
                <a:latin typeface="맑은 고딕"/>
                <a:ea typeface="맑은 고딕"/>
              </a:rP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313432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계정·역할·비밀번호 정책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login_id, role, is_active,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pw_hash, failed_count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73952" y="1892808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F8CFF"/>
                </a:solidFill>
                <a:latin typeface="맑은 고딕"/>
                <a:ea typeface="맑은 고딕"/>
              </a:rPr>
              <a:t>user_domains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313432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MGR 담당 도메인 매핑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user_id, domain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94760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41832" y="3995928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F8CFF"/>
                </a:solidFill>
                <a:latin typeface="맑은 고딕"/>
                <a:ea typeface="맑은 고딕"/>
              </a:rPr>
              <a:t>audit_logs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416552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모든 조치 기록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user_id, action, target,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before, after, 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73952" y="3995928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4F8CFF"/>
                </a:solidFill>
                <a:latin typeface="맑은 고딕"/>
                <a:ea typeface="맑은 고딕"/>
              </a:rPr>
              <a:t>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416552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2인 승인 구조가 컬럼이 됨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requested_by, approved_by,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status, sent_at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43600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1E2E"/>
                </a:solidFill>
                <a:latin typeface="맑은 고딕"/>
                <a:ea typeface="맑은 고딕"/>
              </a:rPr>
              <a:t>→ 권한 매트릭스를 확정하지 않으면 인증도 DB도 착수할 수 없습니다.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4F8C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주요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AA8BE"/>
                </a:solidFill>
                <a:latin typeface="맑은 고딕"/>
                <a:ea typeface="맑은 고딕"/>
              </a:rPr>
              <a:t>통합 상황판 · 공통 사항 · 구현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9AA8BE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61E2E"/>
                </a:solidFill>
                <a:latin typeface="맑은 고딕"/>
                <a:ea typeface="맑은 고딕"/>
              </a:rPr>
              <a:t>S-01 통합 상황판 (홈)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신설 — 솔루션의 얼굴이자 제안·시연의 핵심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7680960" cy="420624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7406640" cy="475488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6696" y="1911095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○○시 통합 도시안전 관제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911095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9AA8BE"/>
                </a:solidFill>
                <a:latin typeface="맑은 고딕"/>
                <a:ea typeface="맑은 고딕"/>
              </a:rPr>
              <a:t>강수 12mm/h   정상 5 / 주의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95728"/>
            <a:ext cx="22860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87552" y="254203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61E2E"/>
                </a:solidFill>
                <a:latin typeface="맑은 고딕"/>
                <a:ea typeface="맑은 고딕"/>
              </a:rPr>
              <a:t>침수·교통위험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8529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8930B"/>
                </a:solidFill>
                <a:latin typeface="맑은 고딕"/>
                <a:ea typeface="맑은 고딕"/>
              </a:rPr>
              <a:t>주의 2건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21868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F8CFF"/>
                </a:solidFill>
                <a:latin typeface="맑은 고딕"/>
                <a:ea typeface="맑은 고딕"/>
              </a:rPr>
              <a:t>상세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395728"/>
            <a:ext cx="22860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10712" y="254203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61E2E"/>
                </a:solidFill>
                <a:latin typeface="맑은 고딕"/>
                <a:ea typeface="맑은 고딕"/>
              </a:rPr>
              <a:t>인파관리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8529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8930B"/>
                </a:solidFill>
                <a:latin typeface="맑은 고딕"/>
                <a:ea typeface="맑은 고딕"/>
              </a:rPr>
              <a:t>배회 1건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321868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F8CFF"/>
                </a:solidFill>
                <a:latin typeface="맑은 고딕"/>
                <a:ea typeface="맑은 고딕"/>
              </a:rPr>
              <a:t>상세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395728"/>
            <a:ext cx="22860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833872" y="254203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61E2E"/>
                </a:solidFill>
                <a:latin typeface="맑은 고딕"/>
                <a:ea typeface="맑은 고딕"/>
              </a:rPr>
              <a:t>도로 노면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8529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67690"/>
                </a:solidFill>
                <a:latin typeface="맑은 고딕"/>
                <a:ea typeface="맑은 고딕"/>
              </a:rPr>
              <a:t>보수요청 3건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321868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F8CFF"/>
                </a:solidFill>
                <a:latin typeface="맑은 고딕"/>
                <a:ea typeface="맑은 고딕"/>
              </a:rPr>
              <a:t>상세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694176"/>
            <a:ext cx="74066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6696" y="3822191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61E2E"/>
                </a:solidFill>
                <a:latin typeface="맑은 고딕"/>
                <a:ea typeface="맑은 고딕"/>
              </a:rPr>
              <a:t>진행 중인 상황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4151376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67690"/>
                </a:solidFill>
                <a:latin typeface="맑은 고딕"/>
                <a:ea typeface="맑은 고딕"/>
              </a:rPr>
              <a:t>14:20  범내골교차로   침수 주의  →  조치중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" y="44805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67690"/>
                </a:solidFill>
                <a:latin typeface="맑은 고딕"/>
                <a:ea typeface="맑은 고딕"/>
              </a:rPr>
              <a:t>13:55  센텀 A구역      배회 감지  →  확인완료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120640"/>
            <a:ext cx="7406640" cy="54864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96696" y="5285232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4F8CFF"/>
                </a:solidFill>
                <a:latin typeface="맑은 고딕"/>
                <a:ea typeface="맑은 고딕"/>
              </a:rPr>
              <a:t>대기 중인 알림 승인  1건                    승인 화면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13648" y="1645920"/>
            <a:ext cx="2889504" cy="420624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851392" y="1828800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61E2E"/>
                </a:solidFill>
                <a:latin typeface="맑은 고딕"/>
                <a:ea typeface="맑은 고딕"/>
              </a:rPr>
              <a:t>이 화면의 역할</a:t>
            </a:r>
          </a:p>
        </p:txBody>
      </p:sp>
      <p:sp>
        <p:nvSpPr>
          <p:cNvPr id="28" name="Oval 27"/>
          <p:cNvSpPr/>
          <p:nvPr/>
        </p:nvSpPr>
        <p:spPr>
          <a:xfrm>
            <a:off x="8851392" y="2286000"/>
            <a:ext cx="274320" cy="27432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2267712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61E2E"/>
                </a:solidFill>
                <a:latin typeface="맑은 고딕"/>
                <a:ea typeface="맑은 고딕"/>
              </a:rPr>
              <a:t>3개 도메인 상태를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61E2E"/>
                </a:solidFill>
                <a:latin typeface="맑은 고딕"/>
                <a:ea typeface="맑은 고딕"/>
              </a:rPr>
              <a:t>한 화면에 결합</a:t>
            </a:r>
          </a:p>
        </p:txBody>
      </p:sp>
      <p:sp>
        <p:nvSpPr>
          <p:cNvPr id="30" name="Oval 29"/>
          <p:cNvSpPr/>
          <p:nvPr/>
        </p:nvSpPr>
        <p:spPr>
          <a:xfrm>
            <a:off x="8851392" y="3401568"/>
            <a:ext cx="274320" cy="27432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383279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61E2E"/>
                </a:solidFill>
                <a:latin typeface="맑은 고딕"/>
                <a:ea typeface="맑은 고딕"/>
              </a:rPr>
              <a:t>진행 중인 상황과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61E2E"/>
                </a:solidFill>
                <a:latin typeface="맑은 고딕"/>
                <a:ea typeface="맑은 고딕"/>
              </a:rPr>
              <a:t>조치 담당자 표시</a:t>
            </a:r>
          </a:p>
        </p:txBody>
      </p:sp>
      <p:sp>
        <p:nvSpPr>
          <p:cNvPr id="32" name="Oval 31"/>
          <p:cNvSpPr/>
          <p:nvPr/>
        </p:nvSpPr>
        <p:spPr>
          <a:xfrm>
            <a:off x="8851392" y="4517136"/>
            <a:ext cx="274320" cy="27432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4498848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61E2E"/>
                </a:solidFill>
                <a:latin typeface="맑은 고딕"/>
                <a:ea typeface="맑은 고딕"/>
              </a:rPr>
              <a:t>대기 중인 승인 업무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161E2E"/>
                </a:solidFill>
                <a:latin typeface="맑은 고딕"/>
                <a:ea typeface="맑은 고딕"/>
              </a:rPr>
              <a:t>바로 연결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1392" y="5577840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D93A3F"/>
                </a:solidFill>
                <a:latin typeface="맑은 고딕"/>
                <a:ea typeface="맑은 고딕"/>
              </a:rPr>
              <a:t>※ 전부 DB 도입이 전제됩니다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61E2E"/>
                </a:solidFill>
                <a:latin typeface="맑은 고딕"/>
                <a:ea typeface="맑은 고딕"/>
              </a:rPr>
              <a:t>공통 사항 — 지금 정리해야 비용이 들지 않습니다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6절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6583680" cy="420624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1847088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1E2E"/>
                </a:solidFill>
                <a:latin typeface="맑은 고딕"/>
                <a:ea typeface="맑은 고딕"/>
              </a:rPr>
              <a:t>웹 접근성 점검 결과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60120" y="2286000"/>
          <a:ext cx="603504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3192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현재</a:t>
                      </a:r>
                    </a:p>
                  </a:txBody>
                  <a:tcPr marL="82296" marR="54864" marT="27432" marB="27432" anchor="ctr">
                    <a:solidFill>
                      <a:srgbClr val="1B22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색상만으로 정보 전달 금지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— 위험등급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키보드만으로 조작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— 모달 마우스 전용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대체 텍스트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명도 대비 4.5:1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미확인</a:t>
                      </a:r>
                    </a:p>
                  </a:txBody>
                  <a:tcPr marL="82296" marR="54864" marT="27432" marB="27432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초점 표시 · 반응형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미확인 / 없음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" y="502920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적용 의무 범위와 근거 법령은 검증하지 못했습니다.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7690"/>
                </a:solidFill>
                <a:latin typeface="맑은 고딕"/>
                <a:ea typeface="맑은 고딕"/>
              </a:rPr>
              <a:t>발주 사양서로 확인이 필요합니다.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6952" y="1645920"/>
            <a:ext cx="3886200" cy="420624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0" y="184708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D93A3F"/>
                </a:solidFill>
                <a:latin typeface="맑은 고딕"/>
                <a:ea typeface="맑은 고딕"/>
              </a:rPr>
              <a:t>망분리 환경 이슈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28600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현재 CCTV 재생 라이브러리를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외부 CDN에서 불러옵니다.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폐쇄망 지자체에서는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영상이 전혀 나오지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840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61E2E"/>
                </a:solidFill>
                <a:latin typeface="맑은 고딕"/>
                <a:ea typeface="맑은 고딕"/>
              </a:rPr>
              <a:t>조치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169663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7690"/>
                </a:solidFill>
                <a:latin typeface="맑은 고딕"/>
                <a:ea typeface="맑은 고딕"/>
              </a:rPr>
              <a:t>라이브러리를 로컬로 번들.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7690"/>
                </a:solidFill>
                <a:latin typeface="맑은 고딕"/>
                <a:ea typeface="맑은 고딕"/>
              </a:rPr>
              <a:t>난이도 낮고, 배포환경 결정과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7690"/>
                </a:solidFill>
                <a:latin typeface="맑은 고딕"/>
                <a:ea typeface="맑은 고딕"/>
              </a:rPr>
              <a:t>무관하게 먼저 해두는 편이 안전.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61E2E"/>
                </a:solidFill>
                <a:latin typeface="맑은 고딕"/>
                <a:ea typeface="맑은 고딕"/>
              </a:rPr>
              <a:t>구현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67690"/>
                </a:solidFill>
                <a:latin typeface="맑은 고딕"/>
                <a:ea typeface="맑은 고딕"/>
              </a:rPr>
              <a:t>설계서 7절 — 기간은 개발부 협의 후 별도 산정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048256" cy="11704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32104" y="1837944"/>
            <a:ext cx="384048" cy="38404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313432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61E2E"/>
                </a:solidFill>
                <a:latin typeface="맑은 고딕"/>
                <a:ea typeface="맑은 고딕"/>
              </a:rPr>
              <a:t>권한 매트릭스 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606040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고객 운영규정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691640"/>
            <a:ext cx="2048256" cy="11704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044952" y="1837944"/>
            <a:ext cx="384048" cy="38404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313432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61E2E"/>
                </a:solidFill>
                <a:latin typeface="맑은 고딕"/>
                <a:ea typeface="맑은 고딕"/>
              </a:rPr>
              <a:t>DB 스키마 확정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606040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1단계의 산출물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1496" y="1691640"/>
            <a:ext cx="2048256" cy="11704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257800" y="1837944"/>
            <a:ext cx="384048" cy="38404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313432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61E2E"/>
                </a:solidFill>
                <a:latin typeface="맑은 고딕"/>
                <a:ea typeface="맑은 고딕"/>
              </a:rPr>
              <a:t>로그인 + 인증 가드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606040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S-00 · 전 API 보호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1691640"/>
            <a:ext cx="2048256" cy="11704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470648" y="1837944"/>
            <a:ext cx="384048" cy="38404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2313432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61E2E"/>
                </a:solidFill>
                <a:latin typeface="맑은 고딕"/>
                <a:ea typeface="맑은 고딕"/>
              </a:rPr>
              <a:t>사용자·권한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8" y="2606040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S-60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1691640"/>
            <a:ext cx="2048256" cy="11704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683496" y="1837944"/>
            <a:ext cx="384048" cy="38404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496" y="2313432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61E2E"/>
                </a:solidFill>
                <a:latin typeface="맑은 고딕"/>
                <a:ea typeface="맑은 고딕"/>
              </a:rPr>
              <a:t>감사 로그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3496" y="2606040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S-61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063240"/>
            <a:ext cx="2048256" cy="11704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2104" y="3209544"/>
            <a:ext cx="384048" cy="38404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3685032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61E2E"/>
                </a:solidFill>
                <a:latin typeface="맑은 고딕"/>
                <a:ea typeface="맑은 고딕"/>
              </a:rPr>
              <a:t>알림 승인 플로우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3977639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S-40 · S-41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98648" y="3063240"/>
            <a:ext cx="2048256" cy="11704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3044952" y="3209544"/>
            <a:ext cx="384048" cy="384048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44952" y="3685032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61E2E"/>
                </a:solidFill>
                <a:latin typeface="맑은 고딕"/>
                <a:ea typeface="맑은 고딕"/>
              </a:rPr>
              <a:t>설정 화면군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4952" y="3977639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S-50~S-55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11496" y="3063240"/>
            <a:ext cx="2048256" cy="11704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5257800" y="3209544"/>
            <a:ext cx="384048" cy="384048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3685032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3977639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S-01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24344" y="3063240"/>
            <a:ext cx="2048256" cy="11704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7470648" y="3209544"/>
            <a:ext cx="384048" cy="384048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0648" y="3685032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61E2E"/>
                </a:solidFill>
                <a:latin typeface="맑은 고딕"/>
                <a:ea typeface="맑은 고딕"/>
              </a:rPr>
              <a:t>기존 화면 메뉴 이관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0648" y="3977639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S-10~S-31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37192" y="3063240"/>
            <a:ext cx="2048256" cy="11704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9683496" y="3209544"/>
            <a:ext cx="384048" cy="384048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3685032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61E2E"/>
                </a:solidFill>
                <a:latin typeface="맑은 고딕"/>
                <a:ea typeface="맑은 고딕"/>
              </a:rPr>
              <a:t>접근성 대응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83496" y="3977639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전 화면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572000"/>
            <a:ext cx="10817352" cy="969264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60120" y="47548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4F8CFF"/>
                </a:solidFill>
                <a:latin typeface="맑은 고딕"/>
                <a:ea typeface="맑은 고딕"/>
              </a:rPr>
              <a:t>설계 확정과 무관하게 지금 착수 가능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0840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61E2E"/>
                </a:solidFill>
                <a:latin typeface="맑은 고딕"/>
                <a:ea typeface="맑은 고딕"/>
              </a:rPr>
              <a:t>무인증 알림 발송 엔드포인트 임시 차단  ·  CDN 라이브러리 로컬 번들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6769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350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</a:rPr>
              <a:t>확인이 필요한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AA8BE"/>
                </a:solidFill>
                <a:latin typeface="맑은 고딕"/>
                <a:ea typeface="맑은 고딕"/>
              </a:rPr>
              <a:t>설계서 8절 — 답이 정해져야 다음 단계로 갑니다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55648"/>
            <a:ext cx="5285232" cy="109728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05256" y="2066543"/>
            <a:ext cx="457200" cy="45720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195681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</a:rPr>
              <a:t>주민 알림 승인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28600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AA8BE"/>
                </a:solidFill>
                <a:latin typeface="맑은 고딕"/>
                <a:ea typeface="맑은 고딕"/>
              </a:rPr>
              <a:t>확인처  고객 운영규정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54203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F8CFF"/>
                </a:solidFill>
                <a:latin typeface="맑은 고딕"/>
                <a:ea typeface="맑은 고딕"/>
              </a:rPr>
              <a:t>영향  화면 구조 · DB 스키마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55648"/>
            <a:ext cx="5285232" cy="109728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37376" y="2066543"/>
            <a:ext cx="457200" cy="45720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95681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</a:rPr>
              <a:t>웹 접근성 인증 요구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28600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AA8BE"/>
                </a:solidFill>
                <a:latin typeface="맑은 고딕"/>
                <a:ea typeface="맑은 고딕"/>
              </a:rPr>
              <a:t>확인처  발주 사양서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254203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F8CFF"/>
                </a:solidFill>
                <a:latin typeface="맑은 고딕"/>
                <a:ea typeface="맑은 고딕"/>
              </a:rPr>
              <a:t>영향  전체 작업량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54096"/>
            <a:ext cx="5285232" cy="109728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05256" y="3364991"/>
            <a:ext cx="457200" cy="45720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2552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</a:rPr>
              <a:t>망분리 여부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358444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AA8BE"/>
                </a:solidFill>
                <a:latin typeface="맑은 고딕"/>
                <a:ea typeface="맑은 고딕"/>
              </a:rPr>
              <a:t>확인처  지자체 인프라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384048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F8CFF"/>
                </a:solidFill>
                <a:latin typeface="맑은 고딕"/>
                <a:ea typeface="맑은 고딕"/>
              </a:rPr>
              <a:t>영향  외부 API 연동 방식 전체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54096"/>
            <a:ext cx="5285232" cy="109728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437376" y="3364991"/>
            <a:ext cx="457200" cy="45720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25526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</a:rPr>
              <a:t>지자체 SSO 연계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58444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AA8BE"/>
                </a:solidFill>
                <a:latin typeface="맑은 고딕"/>
                <a:ea typeface="맑은 고딕"/>
              </a:rPr>
              <a:t>확인처  지자체 정보통신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84048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F8CFF"/>
                </a:solidFill>
                <a:latin typeface="맑은 고딕"/>
                <a:ea typeface="맑은 고딕"/>
              </a:rPr>
              <a:t>영향  로그인 화면 대체 여부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352544"/>
            <a:ext cx="5285232" cy="109728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05256" y="4663440"/>
            <a:ext cx="457200" cy="45720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45537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</a:rPr>
              <a:t>부서별 도메인 분리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882896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AA8BE"/>
                </a:solidFill>
                <a:latin typeface="맑은 고딕"/>
                <a:ea typeface="맑은 고딕"/>
              </a:rPr>
              <a:t>확인처  고객 조직 구성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513892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F8CFF"/>
                </a:solidFill>
                <a:latin typeface="맑은 고딕"/>
                <a:ea typeface="맑은 고딕"/>
              </a:rPr>
              <a:t>영향  권한 테이블 구조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52544"/>
            <a:ext cx="5285232" cy="109728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437376" y="4663440"/>
            <a:ext cx="457200" cy="45720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5537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</a:rPr>
              <a:t>상표 정식 조회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4882896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9AA8BE"/>
                </a:solidFill>
                <a:latin typeface="맑은 고딕"/>
                <a:ea typeface="맑은 고딕"/>
              </a:rPr>
              <a:t>확인처  특허청 키프리스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513892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F8CFF"/>
                </a:solidFill>
                <a:latin typeface="맑은 고딕"/>
                <a:ea typeface="맑은 고딕"/>
              </a:rPr>
              <a:t>영향  솔루션 명칭 확정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05332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9AA8BE"/>
                </a:solidFill>
                <a:latin typeface="맑은 고딕"/>
                <a:ea typeface="맑은 고딕"/>
              </a:rPr>
              <a:t>UrbanGuard  ·  앤시정보기술(주)  ·  2026-08-06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9AA8BE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